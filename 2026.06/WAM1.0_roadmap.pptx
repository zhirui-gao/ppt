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9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92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01168"/>
            <a:ext cx="6858000" cy="3474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WAM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预训练</a:t>
            </a:r>
            <a:r>
              <a:rPr lang="en-US" sz="28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项目路标</a:t>
            </a:r>
            <a:endParaRPr 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8138160" cy="16459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 数据端 / 模型端 / 测评端 三条主线推进, 9月</a:t>
            </a:r>
            <a:r>
              <a:rPr lang="zh-CN" alt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</a:t>
            </a: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旬形成 WAM v1.0 阶段结果</a:t>
            </a:r>
          </a:p>
        </p:txBody>
      </p:sp>
      <p:sp>
        <p:nvSpPr>
          <p:cNvPr id="4" name="Text 2"/>
          <p:cNvSpPr/>
          <p:nvPr/>
        </p:nvSpPr>
        <p:spPr>
          <a:xfrm>
            <a:off x="8495030" y="201295"/>
            <a:ext cx="3510280" cy="440690"/>
          </a:xfrm>
          <a:prstGeom prst="rect">
            <a:avLst/>
          </a:prstGeom>
          <a:noFill/>
        </p:spPr>
        <p:txBody>
          <a:bodyPr wrap="square" lIns="381" tIns="381" rIns="381" bIns="381" rtlCol="0" anchor="t" anchorCtr="0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F8A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▲ 已完成 </a:t>
            </a:r>
            <a:r>
              <a:rPr lang="en-US" dirty="0">
                <a:solidFill>
                  <a:srgbClr val="E69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▲ 开展中 </a:t>
            </a:r>
            <a:r>
              <a:rPr lang="en-US" dirty="0">
                <a:solidFill>
                  <a:srgbClr val="8A8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▲ 待启动</a:t>
            </a:r>
            <a:endParaRPr lang="en-US" dirty="0">
              <a:solidFill>
                <a:srgbClr val="E69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endParaRPr lang="en-US" dirty="0">
              <a:solidFill>
                <a:srgbClr val="E69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01732" y="1183640"/>
            <a:ext cx="12065" cy="4117975"/>
          </a:xfrm>
          <a:prstGeom prst="line">
            <a:avLst/>
          </a:prstGeom>
          <a:noFill/>
          <a:ln w="9525">
            <a:solidFill>
              <a:srgbClr val="FF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11512" y="5363532"/>
            <a:ext cx="1032510" cy="403987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rgbClr val="A36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入职前准备</a:t>
            </a:r>
            <a:endParaRPr lang="en-US" sz="1200" b="1" dirty="0">
              <a:solidFill>
                <a:srgbClr val="A36A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A36A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06.20–07.6</a:t>
            </a:r>
          </a:p>
        </p:txBody>
      </p:sp>
      <p:sp>
        <p:nvSpPr>
          <p:cNvPr id="10" name="Text 8"/>
          <p:cNvSpPr/>
          <p:nvPr/>
        </p:nvSpPr>
        <p:spPr>
          <a:xfrm>
            <a:off x="384048" y="1545336"/>
            <a:ext cx="685800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</a:t>
            </a:r>
          </a:p>
        </p:txBody>
      </p:sp>
      <p:sp>
        <p:nvSpPr>
          <p:cNvPr id="11" name="Shape 9"/>
          <p:cNvSpPr/>
          <p:nvPr/>
        </p:nvSpPr>
        <p:spPr>
          <a:xfrm>
            <a:off x="1234440" y="1645920"/>
            <a:ext cx="10058400" cy="0"/>
          </a:xfrm>
          <a:prstGeom prst="line">
            <a:avLst/>
          </a:prstGeom>
          <a:noFill/>
          <a:ln w="17780">
            <a:solidFill>
              <a:srgbClr val="2B2B2B"/>
            </a:solidFill>
            <a:prstDash val="solid"/>
            <a:tailEnd type="triangle"/>
          </a:ln>
        </p:spPr>
        <p:txBody>
          <a:bodyPr anchor="ctr" anchorCtr="0"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1811232" y="1591056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3" name="Text 11"/>
          <p:cNvSpPr/>
          <p:nvPr/>
        </p:nvSpPr>
        <p:spPr>
          <a:xfrm>
            <a:off x="1582632" y="1764792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06.12</a:t>
            </a:r>
          </a:p>
        </p:txBody>
      </p:sp>
      <p:sp>
        <p:nvSpPr>
          <p:cNvPr id="16" name="Shape 14"/>
          <p:cNvSpPr/>
          <p:nvPr/>
        </p:nvSpPr>
        <p:spPr>
          <a:xfrm>
            <a:off x="4207764" y="1591056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7" name="Text 15"/>
          <p:cNvSpPr/>
          <p:nvPr/>
        </p:nvSpPr>
        <p:spPr>
          <a:xfrm>
            <a:off x="3979164" y="1764792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07.6</a:t>
            </a:r>
          </a:p>
        </p:txBody>
      </p:sp>
      <p:sp>
        <p:nvSpPr>
          <p:cNvPr id="18" name="Shape 16"/>
          <p:cNvSpPr/>
          <p:nvPr/>
        </p:nvSpPr>
        <p:spPr>
          <a:xfrm>
            <a:off x="5873432" y="1591056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9" name="Text 17"/>
          <p:cNvSpPr/>
          <p:nvPr/>
        </p:nvSpPr>
        <p:spPr>
          <a:xfrm>
            <a:off x="5644832" y="1764792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07.31</a:t>
            </a:r>
          </a:p>
        </p:txBody>
      </p:sp>
      <p:sp>
        <p:nvSpPr>
          <p:cNvPr id="20" name="Shape 18"/>
          <p:cNvSpPr/>
          <p:nvPr/>
        </p:nvSpPr>
        <p:spPr>
          <a:xfrm>
            <a:off x="7535545" y="1591056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21" name="Text 19"/>
          <p:cNvSpPr/>
          <p:nvPr/>
        </p:nvSpPr>
        <p:spPr>
          <a:xfrm>
            <a:off x="7306945" y="1764792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08.20</a:t>
            </a:r>
          </a:p>
        </p:txBody>
      </p:sp>
      <p:sp>
        <p:nvSpPr>
          <p:cNvPr id="22" name="Shape 20"/>
          <p:cNvSpPr/>
          <p:nvPr/>
        </p:nvSpPr>
        <p:spPr>
          <a:xfrm>
            <a:off x="10527573" y="1591056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23" name="Text 21"/>
          <p:cNvSpPr/>
          <p:nvPr/>
        </p:nvSpPr>
        <p:spPr>
          <a:xfrm>
            <a:off x="10298973" y="1764792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09.15</a:t>
            </a:r>
          </a:p>
        </p:txBody>
      </p:sp>
      <p:sp>
        <p:nvSpPr>
          <p:cNvPr id="24" name="Text 22"/>
          <p:cNvSpPr/>
          <p:nvPr/>
        </p:nvSpPr>
        <p:spPr>
          <a:xfrm>
            <a:off x="384048" y="2688336"/>
            <a:ext cx="685800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</a:t>
            </a:r>
          </a:p>
        </p:txBody>
      </p:sp>
      <p:sp>
        <p:nvSpPr>
          <p:cNvPr id="25" name="Shape 23"/>
          <p:cNvSpPr/>
          <p:nvPr/>
        </p:nvSpPr>
        <p:spPr>
          <a:xfrm>
            <a:off x="1234440" y="2788920"/>
            <a:ext cx="10058400" cy="0"/>
          </a:xfrm>
          <a:prstGeom prst="line">
            <a:avLst/>
          </a:prstGeom>
          <a:noFill/>
          <a:ln w="17780">
            <a:solidFill>
              <a:srgbClr val="2B2B2B"/>
            </a:solidFill>
            <a:prstDash val="solid"/>
            <a:tailEnd type="triangle"/>
          </a:ln>
        </p:spPr>
        <p:txBody>
          <a:bodyPr anchor="ctr" anchorCtr="0"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1811232" y="2734056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27" name="Text 25"/>
          <p:cNvSpPr/>
          <p:nvPr/>
        </p:nvSpPr>
        <p:spPr>
          <a:xfrm>
            <a:off x="1582632" y="2907792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06.12</a:t>
            </a:r>
          </a:p>
        </p:txBody>
      </p:sp>
      <p:sp>
        <p:nvSpPr>
          <p:cNvPr id="28" name="Shape 26"/>
          <p:cNvSpPr/>
          <p:nvPr/>
        </p:nvSpPr>
        <p:spPr>
          <a:xfrm>
            <a:off x="3007360" y="2734056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29" name="Text 27"/>
          <p:cNvSpPr/>
          <p:nvPr/>
        </p:nvSpPr>
        <p:spPr>
          <a:xfrm>
            <a:off x="2778760" y="2907792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06.19</a:t>
            </a:r>
          </a:p>
        </p:txBody>
      </p:sp>
      <p:sp>
        <p:nvSpPr>
          <p:cNvPr id="30" name="Shape 28"/>
          <p:cNvSpPr/>
          <p:nvPr/>
        </p:nvSpPr>
        <p:spPr>
          <a:xfrm>
            <a:off x="4207764" y="2734056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31" name="Text 29"/>
          <p:cNvSpPr/>
          <p:nvPr/>
        </p:nvSpPr>
        <p:spPr>
          <a:xfrm>
            <a:off x="3979164" y="2907792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07.6</a:t>
            </a:r>
          </a:p>
        </p:txBody>
      </p:sp>
      <p:sp>
        <p:nvSpPr>
          <p:cNvPr id="32" name="Shape 30"/>
          <p:cNvSpPr/>
          <p:nvPr/>
        </p:nvSpPr>
        <p:spPr>
          <a:xfrm>
            <a:off x="5873432" y="2734056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33" name="Text 31"/>
          <p:cNvSpPr/>
          <p:nvPr/>
        </p:nvSpPr>
        <p:spPr>
          <a:xfrm>
            <a:off x="5644832" y="2907792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07.31</a:t>
            </a:r>
          </a:p>
        </p:txBody>
      </p:sp>
      <p:sp>
        <p:nvSpPr>
          <p:cNvPr id="34" name="Shape 32"/>
          <p:cNvSpPr/>
          <p:nvPr/>
        </p:nvSpPr>
        <p:spPr>
          <a:xfrm>
            <a:off x="7535545" y="2734056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35" name="Text 33"/>
          <p:cNvSpPr/>
          <p:nvPr/>
        </p:nvSpPr>
        <p:spPr>
          <a:xfrm>
            <a:off x="7306945" y="2907792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08.20</a:t>
            </a:r>
          </a:p>
        </p:txBody>
      </p:sp>
      <p:sp>
        <p:nvSpPr>
          <p:cNvPr id="37" name="Text 35"/>
          <p:cNvSpPr/>
          <p:nvPr/>
        </p:nvSpPr>
        <p:spPr>
          <a:xfrm>
            <a:off x="10298973" y="2907792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09.15</a:t>
            </a:r>
          </a:p>
        </p:txBody>
      </p:sp>
      <p:sp>
        <p:nvSpPr>
          <p:cNvPr id="38" name="Text 36"/>
          <p:cNvSpPr/>
          <p:nvPr/>
        </p:nvSpPr>
        <p:spPr>
          <a:xfrm>
            <a:off x="384048" y="3813048"/>
            <a:ext cx="685800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</a:t>
            </a:r>
          </a:p>
        </p:txBody>
      </p:sp>
      <p:sp>
        <p:nvSpPr>
          <p:cNvPr id="39" name="Shape 37"/>
          <p:cNvSpPr/>
          <p:nvPr/>
        </p:nvSpPr>
        <p:spPr>
          <a:xfrm>
            <a:off x="1234440" y="3913632"/>
            <a:ext cx="10058400" cy="0"/>
          </a:xfrm>
          <a:prstGeom prst="line">
            <a:avLst/>
          </a:prstGeom>
          <a:noFill/>
          <a:ln w="17780">
            <a:solidFill>
              <a:srgbClr val="2B2B2B"/>
            </a:solidFill>
            <a:prstDash val="solid"/>
            <a:tailEnd type="triangle"/>
          </a:ln>
        </p:spPr>
        <p:txBody>
          <a:bodyPr anchor="ctr" anchorCtr="0"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1811232" y="3858768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41" name="Text 39"/>
          <p:cNvSpPr/>
          <p:nvPr/>
        </p:nvSpPr>
        <p:spPr>
          <a:xfrm>
            <a:off x="1582632" y="4032504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06.1</a:t>
            </a:r>
          </a:p>
        </p:txBody>
      </p:sp>
      <p:sp>
        <p:nvSpPr>
          <p:cNvPr id="42" name="Shape 40"/>
          <p:cNvSpPr/>
          <p:nvPr/>
        </p:nvSpPr>
        <p:spPr>
          <a:xfrm>
            <a:off x="3007360" y="3858768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43" name="Text 41"/>
          <p:cNvSpPr/>
          <p:nvPr/>
        </p:nvSpPr>
        <p:spPr>
          <a:xfrm>
            <a:off x="2778760" y="4032504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06.19</a:t>
            </a:r>
          </a:p>
        </p:txBody>
      </p:sp>
      <p:sp>
        <p:nvSpPr>
          <p:cNvPr id="44" name="Shape 42"/>
          <p:cNvSpPr/>
          <p:nvPr/>
        </p:nvSpPr>
        <p:spPr>
          <a:xfrm>
            <a:off x="4207764" y="3858768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45" name="Text 43"/>
          <p:cNvSpPr/>
          <p:nvPr/>
        </p:nvSpPr>
        <p:spPr>
          <a:xfrm>
            <a:off x="3979164" y="4032504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07.6</a:t>
            </a:r>
          </a:p>
        </p:txBody>
      </p:sp>
      <p:sp>
        <p:nvSpPr>
          <p:cNvPr id="46" name="Shape 44"/>
          <p:cNvSpPr/>
          <p:nvPr/>
        </p:nvSpPr>
        <p:spPr>
          <a:xfrm>
            <a:off x="5873432" y="3858768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47" name="Text 45"/>
          <p:cNvSpPr/>
          <p:nvPr/>
        </p:nvSpPr>
        <p:spPr>
          <a:xfrm>
            <a:off x="5644832" y="4032504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07.31</a:t>
            </a:r>
          </a:p>
        </p:txBody>
      </p:sp>
      <p:sp>
        <p:nvSpPr>
          <p:cNvPr id="48" name="Shape 46"/>
          <p:cNvSpPr/>
          <p:nvPr/>
        </p:nvSpPr>
        <p:spPr>
          <a:xfrm>
            <a:off x="7535545" y="3858768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49" name="Text 47"/>
          <p:cNvSpPr/>
          <p:nvPr/>
        </p:nvSpPr>
        <p:spPr>
          <a:xfrm>
            <a:off x="7306945" y="4032504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08.20</a:t>
            </a:r>
          </a:p>
        </p:txBody>
      </p:sp>
      <p:sp>
        <p:nvSpPr>
          <p:cNvPr id="50" name="Shape 48"/>
          <p:cNvSpPr/>
          <p:nvPr/>
        </p:nvSpPr>
        <p:spPr>
          <a:xfrm>
            <a:off x="9732401" y="3858768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51" name="Text 49"/>
          <p:cNvSpPr/>
          <p:nvPr/>
        </p:nvSpPr>
        <p:spPr>
          <a:xfrm>
            <a:off x="9503801" y="4032504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09.12</a:t>
            </a:r>
          </a:p>
        </p:txBody>
      </p:sp>
      <p:sp>
        <p:nvSpPr>
          <p:cNvPr id="52" name="Text 50"/>
          <p:cNvSpPr/>
          <p:nvPr/>
        </p:nvSpPr>
        <p:spPr>
          <a:xfrm>
            <a:off x="384048" y="4928616"/>
            <a:ext cx="685800" cy="20116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测评</a:t>
            </a:r>
          </a:p>
        </p:txBody>
      </p:sp>
      <p:sp>
        <p:nvSpPr>
          <p:cNvPr id="53" name="Shape 51"/>
          <p:cNvSpPr/>
          <p:nvPr/>
        </p:nvSpPr>
        <p:spPr>
          <a:xfrm>
            <a:off x="1234440" y="5029200"/>
            <a:ext cx="10058400" cy="0"/>
          </a:xfrm>
          <a:prstGeom prst="line">
            <a:avLst/>
          </a:prstGeom>
          <a:noFill/>
          <a:ln w="17780">
            <a:solidFill>
              <a:srgbClr val="2B2B2B"/>
            </a:solidFill>
            <a:prstDash val="solid"/>
            <a:tailEnd type="triangle"/>
          </a:ln>
        </p:spPr>
        <p:txBody>
          <a:bodyPr anchor="ctr" anchorCtr="0"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1811232" y="4974336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55" name="Text 53"/>
          <p:cNvSpPr/>
          <p:nvPr/>
        </p:nvSpPr>
        <p:spPr>
          <a:xfrm>
            <a:off x="1582632" y="5148072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06.1</a:t>
            </a:r>
          </a:p>
        </p:txBody>
      </p:sp>
      <p:sp>
        <p:nvSpPr>
          <p:cNvPr id="56" name="Shape 54"/>
          <p:cNvSpPr/>
          <p:nvPr/>
        </p:nvSpPr>
        <p:spPr>
          <a:xfrm>
            <a:off x="3007360" y="4974336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57" name="Text 55"/>
          <p:cNvSpPr/>
          <p:nvPr/>
        </p:nvSpPr>
        <p:spPr>
          <a:xfrm>
            <a:off x="2778760" y="5148072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06.19</a:t>
            </a:r>
          </a:p>
        </p:txBody>
      </p:sp>
      <p:sp>
        <p:nvSpPr>
          <p:cNvPr id="58" name="Shape 56"/>
          <p:cNvSpPr/>
          <p:nvPr/>
        </p:nvSpPr>
        <p:spPr>
          <a:xfrm>
            <a:off x="4207764" y="4974336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59" name="Text 57"/>
          <p:cNvSpPr/>
          <p:nvPr/>
        </p:nvSpPr>
        <p:spPr>
          <a:xfrm>
            <a:off x="3979164" y="5148072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07.6</a:t>
            </a:r>
          </a:p>
        </p:txBody>
      </p:sp>
      <p:sp>
        <p:nvSpPr>
          <p:cNvPr id="60" name="Shape 58"/>
          <p:cNvSpPr/>
          <p:nvPr/>
        </p:nvSpPr>
        <p:spPr>
          <a:xfrm>
            <a:off x="5873432" y="4974336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61" name="Text 59"/>
          <p:cNvSpPr/>
          <p:nvPr/>
        </p:nvSpPr>
        <p:spPr>
          <a:xfrm>
            <a:off x="5644832" y="5148072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07.31</a:t>
            </a:r>
          </a:p>
        </p:txBody>
      </p:sp>
      <p:sp>
        <p:nvSpPr>
          <p:cNvPr id="63" name="Text 61"/>
          <p:cNvSpPr/>
          <p:nvPr/>
        </p:nvSpPr>
        <p:spPr>
          <a:xfrm>
            <a:off x="7306945" y="5148072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08.20</a:t>
            </a:r>
          </a:p>
        </p:txBody>
      </p:sp>
      <p:sp>
        <p:nvSpPr>
          <p:cNvPr id="64" name="Shape 62"/>
          <p:cNvSpPr/>
          <p:nvPr/>
        </p:nvSpPr>
        <p:spPr>
          <a:xfrm>
            <a:off x="10527573" y="4974336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65" name="Text 63"/>
          <p:cNvSpPr/>
          <p:nvPr/>
        </p:nvSpPr>
        <p:spPr>
          <a:xfrm>
            <a:off x="10298973" y="5148072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09.15</a:t>
            </a:r>
          </a:p>
        </p:txBody>
      </p:sp>
      <p:sp>
        <p:nvSpPr>
          <p:cNvPr id="66" name="Shape 64"/>
          <p:cNvSpPr/>
          <p:nvPr/>
        </p:nvSpPr>
        <p:spPr>
          <a:xfrm>
            <a:off x="1377845" y="1017270"/>
            <a:ext cx="866775" cy="45529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69F0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VLM</a:t>
            </a:r>
            <a:r>
              <a:rPr lang="zh-CN" altLang="en-US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部署</a:t>
            </a:r>
          </a:p>
        </p:txBody>
      </p:sp>
      <p:sp>
        <p:nvSpPr>
          <p:cNvPr id="70" name="Shape 68"/>
          <p:cNvSpPr/>
          <p:nvPr/>
        </p:nvSpPr>
        <p:spPr>
          <a:xfrm>
            <a:off x="2490470" y="2117090"/>
            <a:ext cx="1033780" cy="45783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69F00"/>
            </a:solidFill>
            <a:prstDash val="solid"/>
          </a:ln>
        </p:spPr>
        <p:txBody>
          <a:bodyPr anchor="ctr" anchorCtr="0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节前闭环 </a:t>
            </a:r>
          </a:p>
          <a:p>
            <a:pPr marL="0" indent="0" algn="ctr">
              <a:buNone/>
            </a:pPr>
            <a:r>
              <a:rPr lang="zh-CN" alt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数据集批处理</a:t>
            </a:r>
            <a:endParaRPr 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2618740" y="2295715"/>
            <a:ext cx="777240" cy="100584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endParaRPr lang="en-US" sz="1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5189220" y="1017270"/>
            <a:ext cx="1368425" cy="45529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Video Model</a:t>
            </a:r>
            <a:endParaRPr 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zh-CN" alt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一阶段训练完成</a:t>
            </a:r>
            <a:endParaRPr lang="zh-CN" altLang="en-US" sz="1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5809424" y="1499616"/>
            <a:ext cx="128016" cy="128016"/>
          </a:xfrm>
          <a:prstGeom prst="triangl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78" name="Shape 76"/>
          <p:cNvSpPr/>
          <p:nvPr/>
        </p:nvSpPr>
        <p:spPr>
          <a:xfrm>
            <a:off x="7041833" y="2181415"/>
            <a:ext cx="98742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altLang="zh-CN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Co-training</a:t>
            </a:r>
          </a:p>
          <a:p>
            <a:pPr algn="ctr"/>
            <a:r>
              <a:rPr lang="en-US" altLang="zh-CN" sz="10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规模跑通</a:t>
            </a:r>
            <a:endParaRPr lang="en-US" altLang="zh-CN" sz="1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7146925" y="2286571"/>
            <a:ext cx="777240" cy="118872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7471537" y="1499616"/>
            <a:ext cx="128016" cy="128016"/>
          </a:xfrm>
          <a:prstGeom prst="triangl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82" name="Shape 80"/>
          <p:cNvSpPr/>
          <p:nvPr/>
        </p:nvSpPr>
        <p:spPr>
          <a:xfrm>
            <a:off x="9961153" y="1017270"/>
            <a:ext cx="1132840" cy="39306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altLang="zh-CN" sz="1000" b="1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WAM v1.0</a:t>
            </a:r>
            <a:endParaRPr lang="en-US" altLang="zh-CN" sz="1000" b="1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algn="ctr"/>
            <a:r>
              <a:rPr lang="en-US" altLang="zh-CN" sz="10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阶段汇报</a:t>
            </a:r>
            <a:endParaRPr lang="en-US" altLang="zh-CN" sz="1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10463565" y="1499616"/>
            <a:ext cx="128016" cy="128016"/>
          </a:xfrm>
          <a:prstGeom prst="triangl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86" name="Shape 84"/>
          <p:cNvSpPr/>
          <p:nvPr/>
        </p:nvSpPr>
        <p:spPr>
          <a:xfrm>
            <a:off x="1376892" y="2181415"/>
            <a:ext cx="868680" cy="329184"/>
          </a:xfrm>
          <a:prstGeom prst="roundRect">
            <a:avLst>
              <a:gd name="adj" fmla="val 22222"/>
            </a:avLst>
          </a:prstGeom>
          <a:noFill/>
          <a:ln w="12700">
            <a:solidFill>
              <a:srgbClr val="1F8A3B"/>
            </a:solidFill>
            <a:prstDash val="solid"/>
          </a:ln>
        </p:spPr>
        <p:txBody>
          <a:bodyPr anchor="ctr" anchorCtr="0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开源VLM</a:t>
            </a:r>
            <a:endParaRPr 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部署</a:t>
            </a:r>
            <a:endParaRPr lang="zh-CN" alt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1747224" y="2642616"/>
            <a:ext cx="128016" cy="128016"/>
          </a:xfrm>
          <a:prstGeom prst="triangle">
            <a:avLst/>
          </a:prstGeom>
          <a:solidFill>
            <a:srgbClr val="1F8A3B"/>
          </a:solidFill>
          <a:ln w="12700">
            <a:solidFill>
              <a:srgbClr val="1F8A3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90" name="Shape 88"/>
          <p:cNvSpPr/>
          <p:nvPr/>
        </p:nvSpPr>
        <p:spPr>
          <a:xfrm>
            <a:off x="2453005" y="3266440"/>
            <a:ext cx="1108710" cy="42164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69F00"/>
            </a:solidFill>
            <a:prstDash val="solid"/>
          </a:ln>
        </p:spPr>
        <p:txBody>
          <a:bodyPr anchor="ctr" anchorCtr="0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Video训练 </a:t>
            </a: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baseline</a:t>
            </a:r>
            <a:r>
              <a:rPr lang="zh-CN" alt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模型</a:t>
            </a:r>
            <a:endParaRPr 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2943352" y="2642616"/>
            <a:ext cx="128016" cy="128016"/>
          </a:xfrm>
          <a:prstGeom prst="triangl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94" name="Shape 92"/>
          <p:cNvSpPr/>
          <p:nvPr/>
        </p:nvSpPr>
        <p:spPr>
          <a:xfrm>
            <a:off x="3730244" y="2181415"/>
            <a:ext cx="9550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altLang="zh-CN" sz="1000" b="1" dirty="0" err="1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质量清洗</a:t>
            </a:r>
            <a:endParaRPr lang="en-US" altLang="zh-CN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algn="ctr"/>
            <a:r>
              <a:rPr lang="en-US" altLang="zh-CN" sz="10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caption抽检</a:t>
            </a:r>
            <a:endParaRPr lang="en-US" altLang="zh-CN" sz="1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3819144" y="2286571"/>
            <a:ext cx="777240" cy="118872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4143756" y="2642616"/>
            <a:ext cx="128016" cy="128016"/>
          </a:xfrm>
          <a:prstGeom prst="triangle">
            <a:avLst/>
          </a:prstGeom>
          <a:solidFill>
            <a:schemeClr val="bg2">
              <a:lumMod val="50000"/>
            </a:schemeClr>
          </a:solidFill>
          <a:ln w="12700">
            <a:noFill/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98" name="Shape 96"/>
          <p:cNvSpPr/>
          <p:nvPr/>
        </p:nvSpPr>
        <p:spPr>
          <a:xfrm>
            <a:off x="5379720" y="2181415"/>
            <a:ext cx="98742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altLang="zh-CN" sz="1000" b="1" dirty="0" err="1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Action数据</a:t>
            </a:r>
            <a:endParaRPr lang="en-US" altLang="zh-CN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algn="ctr"/>
            <a:r>
              <a:rPr lang="en-US" altLang="zh-CN" sz="10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同步</a:t>
            </a:r>
            <a:r>
              <a:rPr lang="en-US" altLang="zh-CN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</a:t>
            </a:r>
            <a:r>
              <a:rPr lang="en-US" altLang="zh-CN" sz="10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切片</a:t>
            </a:r>
            <a:endParaRPr lang="en-US" altLang="zh-CN" sz="1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5484812" y="2286571"/>
            <a:ext cx="777240" cy="118872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1" name="Shape 99"/>
          <p:cNvSpPr/>
          <p:nvPr/>
        </p:nvSpPr>
        <p:spPr>
          <a:xfrm>
            <a:off x="5809424" y="2642616"/>
            <a:ext cx="128016" cy="128016"/>
          </a:xfrm>
          <a:prstGeom prst="triangl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02" name="Shape 100"/>
          <p:cNvSpPr/>
          <p:nvPr/>
        </p:nvSpPr>
        <p:spPr>
          <a:xfrm>
            <a:off x="8646676" y="2181415"/>
            <a:ext cx="1032002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zh-CN" altLang="en-US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新数据探索</a:t>
            </a:r>
          </a:p>
          <a:p>
            <a:pPr algn="ctr"/>
            <a:r>
              <a:rPr lang="zh-CN" alt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数据规模增大</a:t>
            </a:r>
          </a:p>
        </p:txBody>
      </p:sp>
      <p:sp>
        <p:nvSpPr>
          <p:cNvPr id="103" name="Text 101"/>
          <p:cNvSpPr/>
          <p:nvPr/>
        </p:nvSpPr>
        <p:spPr>
          <a:xfrm>
            <a:off x="8481060" y="2286571"/>
            <a:ext cx="777240" cy="118872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endParaRPr lang="zh-CN" alt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3690366" y="3319145"/>
            <a:ext cx="1034796" cy="32893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altLang="zh-CN" sz="1000" b="1" dirty="0" err="1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Video训练</a:t>
            </a:r>
            <a:endParaRPr lang="en-US" altLang="zh-CN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algn="ctr"/>
            <a:r>
              <a:rPr lang="zh-CN" alt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注入</a:t>
            </a:r>
            <a:r>
              <a:rPr lang="en-US" altLang="zh-CN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VLM</a:t>
            </a:r>
            <a:r>
              <a:rPr lang="zh-CN" alt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</a:t>
            </a:r>
          </a:p>
        </p:txBody>
      </p:sp>
      <p:sp>
        <p:nvSpPr>
          <p:cNvPr id="107" name="Text 105"/>
          <p:cNvSpPr/>
          <p:nvPr/>
        </p:nvSpPr>
        <p:spPr>
          <a:xfrm>
            <a:off x="3711512" y="3417888"/>
            <a:ext cx="992505" cy="118745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3711512" y="3427095"/>
            <a:ext cx="992505" cy="100330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algn="ctr"/>
            <a:endParaRPr lang="zh-CN" altLang="en-US" sz="1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4143756" y="3767328"/>
            <a:ext cx="128016" cy="128016"/>
          </a:xfrm>
          <a:prstGeom prst="triangle">
            <a:avLst/>
          </a:prstGeom>
          <a:solidFill>
            <a:schemeClr val="bg2">
              <a:lumMod val="50000"/>
            </a:schemeClr>
          </a:solidFill>
          <a:ln w="12700">
            <a:noFill/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10" name="Shape 108"/>
          <p:cNvSpPr/>
          <p:nvPr/>
        </p:nvSpPr>
        <p:spPr>
          <a:xfrm>
            <a:off x="5289867" y="4461827"/>
            <a:ext cx="1167130" cy="32893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altLang="zh-CN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Sub-</a:t>
            </a:r>
            <a:r>
              <a:rPr lang="en-US" altLang="zh-CN" sz="1000" b="1" dirty="0" err="1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task注入</a:t>
            </a:r>
            <a:endParaRPr lang="en-US" altLang="zh-CN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algn="ctr"/>
            <a:r>
              <a:rPr lang="en-US" altLang="zh-CN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有/</a:t>
            </a:r>
            <a:r>
              <a:rPr lang="en-US" altLang="zh-CN" sz="10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无对比</a:t>
            </a:r>
            <a:endParaRPr lang="en-US" altLang="zh-CN" sz="1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5351462" y="4566920"/>
            <a:ext cx="1043940" cy="118745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3" name="Shape 111"/>
          <p:cNvSpPr/>
          <p:nvPr/>
        </p:nvSpPr>
        <p:spPr>
          <a:xfrm>
            <a:off x="5809424" y="3767328"/>
            <a:ext cx="128016" cy="128016"/>
          </a:xfrm>
          <a:prstGeom prst="triangl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14" name="Shape 112"/>
          <p:cNvSpPr/>
          <p:nvPr/>
        </p:nvSpPr>
        <p:spPr>
          <a:xfrm>
            <a:off x="6981190" y="3312795"/>
            <a:ext cx="1108710" cy="32893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altLang="zh-CN" sz="1000" b="1" dirty="0" err="1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MoT双分支</a:t>
            </a:r>
            <a:endParaRPr lang="en-US" altLang="zh-CN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algn="ctr"/>
            <a:r>
              <a:rPr lang="zh-CN" alt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联合训练</a:t>
            </a:r>
          </a:p>
        </p:txBody>
      </p:sp>
      <p:sp>
        <p:nvSpPr>
          <p:cNvPr id="115" name="Text 113"/>
          <p:cNvSpPr/>
          <p:nvPr/>
        </p:nvSpPr>
        <p:spPr>
          <a:xfrm>
            <a:off x="7039293" y="3417888"/>
            <a:ext cx="992505" cy="118745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7039293" y="3427095"/>
            <a:ext cx="992505" cy="100330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algn="ctr"/>
            <a:endParaRPr lang="zh-CN" altLang="en-US" sz="1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7471537" y="3767328"/>
            <a:ext cx="128016" cy="128016"/>
          </a:xfrm>
          <a:prstGeom prst="triangl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18" name="Shape 116"/>
          <p:cNvSpPr/>
          <p:nvPr/>
        </p:nvSpPr>
        <p:spPr>
          <a:xfrm>
            <a:off x="8464866" y="4469257"/>
            <a:ext cx="735649" cy="32893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altLang="zh-CN" sz="1000" b="1" dirty="0" err="1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主模型</a:t>
            </a:r>
            <a:endParaRPr lang="en-US" altLang="zh-CN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algn="ctr"/>
            <a:r>
              <a:rPr lang="en-US" altLang="zh-CN" sz="10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消融训练</a:t>
            </a:r>
            <a:endParaRPr lang="en-US" altLang="zh-CN" sz="1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8418322" y="4443285"/>
            <a:ext cx="1043940" cy="118745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5" name="Shape 123"/>
          <p:cNvSpPr/>
          <p:nvPr/>
        </p:nvSpPr>
        <p:spPr>
          <a:xfrm>
            <a:off x="2943352" y="4882896"/>
            <a:ext cx="128016" cy="128016"/>
          </a:xfrm>
          <a:prstGeom prst="triangl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26" name="Shape 124"/>
          <p:cNvSpPr/>
          <p:nvPr/>
        </p:nvSpPr>
        <p:spPr>
          <a:xfrm>
            <a:off x="3675254" y="4429760"/>
            <a:ext cx="1065020" cy="32893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altLang="zh-CN" sz="1000" b="1" dirty="0" err="1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</a:t>
            </a:r>
            <a:endParaRPr lang="en-US" altLang="zh-CN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algn="ctr"/>
            <a:r>
              <a:rPr lang="en-US" altLang="zh-CN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future latent</a:t>
            </a:r>
          </a:p>
        </p:txBody>
      </p:sp>
      <p:sp>
        <p:nvSpPr>
          <p:cNvPr id="129" name="Shape 127"/>
          <p:cNvSpPr/>
          <p:nvPr/>
        </p:nvSpPr>
        <p:spPr>
          <a:xfrm>
            <a:off x="4143756" y="4882896"/>
            <a:ext cx="128016" cy="128016"/>
          </a:xfrm>
          <a:prstGeom prst="triangl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34" name="Shape 132"/>
          <p:cNvSpPr/>
          <p:nvPr/>
        </p:nvSpPr>
        <p:spPr>
          <a:xfrm>
            <a:off x="9944008" y="4461827"/>
            <a:ext cx="1167130" cy="32893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altLang="zh-CN" sz="1000" b="1" dirty="0" err="1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汇报材料</a:t>
            </a:r>
            <a:endParaRPr lang="en-US" altLang="zh-CN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algn="ctr"/>
            <a:r>
              <a:rPr lang="en-US" altLang="zh-CN" sz="1000" dirty="0" err="1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结果+失败案例</a:t>
            </a:r>
            <a:endParaRPr lang="en-US" altLang="zh-CN" sz="1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5" name="Text 133"/>
          <p:cNvSpPr/>
          <p:nvPr/>
        </p:nvSpPr>
        <p:spPr>
          <a:xfrm>
            <a:off x="10005603" y="4411980"/>
            <a:ext cx="1043940" cy="118745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6" name="Text 134"/>
          <p:cNvSpPr/>
          <p:nvPr/>
        </p:nvSpPr>
        <p:spPr>
          <a:xfrm>
            <a:off x="10005603" y="4544695"/>
            <a:ext cx="1043940" cy="100330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algn="ctr"/>
            <a:endParaRPr lang="en-US" sz="1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7" name="Shape 135"/>
          <p:cNvSpPr/>
          <p:nvPr/>
        </p:nvSpPr>
        <p:spPr>
          <a:xfrm>
            <a:off x="10463565" y="4882896"/>
            <a:ext cx="128016" cy="128016"/>
          </a:xfrm>
          <a:prstGeom prst="triangl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38" name="Shape 136"/>
          <p:cNvSpPr/>
          <p:nvPr/>
        </p:nvSpPr>
        <p:spPr>
          <a:xfrm>
            <a:off x="696595" y="5861050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751459" y="5915914"/>
            <a:ext cx="2496312" cy="14630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数据端交付</a:t>
            </a:r>
          </a:p>
        </p:txBody>
      </p:sp>
      <p:sp>
        <p:nvSpPr>
          <p:cNvPr id="140" name="Text 138"/>
          <p:cNvSpPr/>
          <p:nvPr/>
        </p:nvSpPr>
        <p:spPr>
          <a:xfrm>
            <a:off x="751459" y="6107938"/>
            <a:ext cx="2496312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VLM打标 + LeRobot转换 + VAE latent + video/action统一索引</a:t>
            </a:r>
          </a:p>
        </p:txBody>
      </p:sp>
      <p:sp>
        <p:nvSpPr>
          <p:cNvPr id="141" name="Shape 139"/>
          <p:cNvSpPr/>
          <p:nvPr/>
        </p:nvSpPr>
        <p:spPr>
          <a:xfrm>
            <a:off x="3621405" y="5861050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676269" y="5915914"/>
            <a:ext cx="2496312" cy="14630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模型端交付</a:t>
            </a:r>
          </a:p>
        </p:txBody>
      </p:sp>
      <p:sp>
        <p:nvSpPr>
          <p:cNvPr id="143" name="Text 141"/>
          <p:cNvSpPr/>
          <p:nvPr/>
        </p:nvSpPr>
        <p:spPr>
          <a:xfrm>
            <a:off x="3676269" y="6107938"/>
            <a:ext cx="2496312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Wan2.2 Video WAM → Sub-task注入 → MoT Video-Action WAM</a:t>
            </a:r>
          </a:p>
        </p:txBody>
      </p:sp>
      <p:sp>
        <p:nvSpPr>
          <p:cNvPr id="144" name="Shape 142"/>
          <p:cNvSpPr/>
          <p:nvPr/>
        </p:nvSpPr>
        <p:spPr>
          <a:xfrm>
            <a:off x="6594475" y="5861050"/>
            <a:ext cx="2606040" cy="621792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649339" y="5915914"/>
            <a:ext cx="2496312" cy="14630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测评端交付</a:t>
            </a:r>
          </a:p>
        </p:txBody>
      </p:sp>
      <p:sp>
        <p:nvSpPr>
          <p:cNvPr id="146" name="Text 144"/>
          <p:cNvSpPr/>
          <p:nvPr/>
        </p:nvSpPr>
        <p:spPr>
          <a:xfrm>
            <a:off x="6649339" y="6107938"/>
            <a:ext cx="2496312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定性可视化 + 离线指标 + 消融实验 + 失败案例分析</a:t>
            </a:r>
          </a:p>
        </p:txBody>
      </p:sp>
      <p:sp>
        <p:nvSpPr>
          <p:cNvPr id="147" name="Shape 145"/>
          <p:cNvSpPr/>
          <p:nvPr/>
        </p:nvSpPr>
        <p:spPr>
          <a:xfrm>
            <a:off x="9467215" y="5861050"/>
            <a:ext cx="2331720" cy="621792"/>
          </a:xfrm>
          <a:prstGeom prst="roundRect">
            <a:avLst>
              <a:gd name="adj" fmla="val 11765"/>
            </a:avLst>
          </a:prstGeom>
          <a:solidFill>
            <a:srgbClr val="F7F9FC"/>
          </a:solidFill>
          <a:ln w="10160">
            <a:solidFill>
              <a:srgbClr val="D5DEE8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522079" y="5915914"/>
            <a:ext cx="2221992" cy="14630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最终目标</a:t>
            </a:r>
          </a:p>
        </p:txBody>
      </p:sp>
      <p:sp>
        <p:nvSpPr>
          <p:cNvPr id="149" name="Text 147"/>
          <p:cNvSpPr/>
          <p:nvPr/>
        </p:nvSpPr>
        <p:spPr>
          <a:xfrm>
            <a:off x="9522079" y="6107938"/>
            <a:ext cx="2221992" cy="2743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9月中旬形成 WAM v1.0 可汇报版本</a:t>
            </a:r>
          </a:p>
        </p:txBody>
      </p:sp>
      <p:sp>
        <p:nvSpPr>
          <p:cNvPr id="151" name="Shape 72"/>
          <p:cNvSpPr/>
          <p:nvPr/>
        </p:nvSpPr>
        <p:spPr>
          <a:xfrm>
            <a:off x="6872288" y="1017270"/>
            <a:ext cx="1326515" cy="45529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Video Action</a:t>
            </a:r>
            <a:endParaRPr 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zh-CN" alt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联合训练</a:t>
            </a:r>
            <a:endParaRPr lang="zh-CN" altLang="en-US" sz="1000"/>
          </a:p>
        </p:txBody>
      </p:sp>
      <p:sp>
        <p:nvSpPr>
          <p:cNvPr id="155" name="Shape 71"/>
          <p:cNvSpPr/>
          <p:nvPr/>
        </p:nvSpPr>
        <p:spPr>
          <a:xfrm>
            <a:off x="1747224" y="1486916"/>
            <a:ext cx="128016" cy="128016"/>
          </a:xfrm>
          <a:prstGeom prst="triangl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56" name="Shape 84"/>
          <p:cNvSpPr/>
          <p:nvPr/>
        </p:nvSpPr>
        <p:spPr>
          <a:xfrm>
            <a:off x="1372765" y="3312795"/>
            <a:ext cx="876935" cy="32893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1F8A3B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zh-CN" altLang="en-US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模型代码</a:t>
            </a:r>
          </a:p>
          <a:p>
            <a:pPr algn="ctr"/>
            <a:r>
              <a:rPr lang="zh-CN" alt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确定</a:t>
            </a:r>
          </a:p>
        </p:txBody>
      </p:sp>
      <p:sp>
        <p:nvSpPr>
          <p:cNvPr id="157" name="Text 85"/>
          <p:cNvSpPr/>
          <p:nvPr/>
        </p:nvSpPr>
        <p:spPr>
          <a:xfrm>
            <a:off x="1314980" y="3417888"/>
            <a:ext cx="992505" cy="118745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endParaRPr lang="zh-CN" alt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8" name="Text 86"/>
          <p:cNvSpPr/>
          <p:nvPr/>
        </p:nvSpPr>
        <p:spPr>
          <a:xfrm>
            <a:off x="1314980" y="3427095"/>
            <a:ext cx="992505" cy="100330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algn="ctr"/>
            <a:endParaRPr lang="zh-CN" altLang="en-US" sz="1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1" name="Shape 84"/>
          <p:cNvSpPr/>
          <p:nvPr/>
        </p:nvSpPr>
        <p:spPr>
          <a:xfrm>
            <a:off x="1219624" y="4395470"/>
            <a:ext cx="1183216" cy="46164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1F8A3B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zh-CN" altLang="en-US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测评方向</a:t>
            </a:r>
          </a:p>
          <a:p>
            <a:pPr algn="ctr"/>
            <a:r>
              <a:rPr lang="en-US" altLang="zh-CN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video/ action/ subtask</a:t>
            </a:r>
          </a:p>
        </p:txBody>
      </p:sp>
      <p:sp>
        <p:nvSpPr>
          <p:cNvPr id="162" name="Text 85"/>
          <p:cNvSpPr/>
          <p:nvPr/>
        </p:nvSpPr>
        <p:spPr>
          <a:xfrm>
            <a:off x="1289262" y="4566920"/>
            <a:ext cx="1043940" cy="118745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endParaRPr lang="zh-CN" alt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3" name="Text 86"/>
          <p:cNvSpPr/>
          <p:nvPr/>
        </p:nvSpPr>
        <p:spPr>
          <a:xfrm>
            <a:off x="1289262" y="4576127"/>
            <a:ext cx="1043940" cy="100330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algn="ctr"/>
            <a:endParaRPr lang="en-US" altLang="zh-CN" sz="1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8" name="Shape 76"/>
          <p:cNvSpPr/>
          <p:nvPr/>
        </p:nvSpPr>
        <p:spPr>
          <a:xfrm>
            <a:off x="5319077" y="3312795"/>
            <a:ext cx="1108710" cy="32893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altLang="zh-CN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Video </a:t>
            </a:r>
            <a:r>
              <a:rPr lang="zh-CN" altLang="en-US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</a:t>
            </a:r>
            <a:endParaRPr lang="en-US" altLang="zh-CN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algn="ctr"/>
            <a:r>
              <a:rPr lang="zh-CN" altLang="en-US" sz="1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策略探索</a:t>
            </a:r>
            <a:endParaRPr lang="en-US" altLang="zh-CN" sz="1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9" name="Text 77"/>
          <p:cNvSpPr/>
          <p:nvPr/>
        </p:nvSpPr>
        <p:spPr>
          <a:xfrm>
            <a:off x="5377180" y="3417888"/>
            <a:ext cx="992505" cy="118745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1" name="Shape 72"/>
          <p:cNvSpPr/>
          <p:nvPr/>
        </p:nvSpPr>
        <p:spPr>
          <a:xfrm>
            <a:off x="3679762" y="1017270"/>
            <a:ext cx="1056005" cy="45529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pPr marL="0" indent="0" algn="ctr">
              <a:buNone/>
            </a:pPr>
            <a:r>
              <a:rPr lang="zh-CN" altLang="en-US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开启规模训练</a:t>
            </a:r>
            <a:endParaRPr lang="zh-CN" alt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初版模型</a:t>
            </a:r>
            <a:endParaRPr lang="zh-CN" altLang="en-US" sz="1000"/>
          </a:p>
        </p:txBody>
      </p:sp>
      <p:sp>
        <p:nvSpPr>
          <p:cNvPr id="174" name="Shape 127"/>
          <p:cNvSpPr/>
          <p:nvPr/>
        </p:nvSpPr>
        <p:spPr>
          <a:xfrm>
            <a:off x="5809424" y="4881626"/>
            <a:ext cx="128016" cy="128016"/>
          </a:xfrm>
          <a:prstGeom prst="triangl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75" name="Shape 127"/>
          <p:cNvSpPr/>
          <p:nvPr/>
        </p:nvSpPr>
        <p:spPr>
          <a:xfrm>
            <a:off x="7471537" y="2605786"/>
            <a:ext cx="128016" cy="128016"/>
          </a:xfrm>
          <a:prstGeom prst="triangl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77" name="Shape 100"/>
          <p:cNvSpPr/>
          <p:nvPr/>
        </p:nvSpPr>
        <p:spPr>
          <a:xfrm>
            <a:off x="10093233" y="2181415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altLang="zh-CN" sz="1000" b="1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数据v1.0</a:t>
            </a:r>
          </a:p>
          <a:p>
            <a:pPr algn="ctr"/>
            <a:r>
              <a:rPr lang="en-US" altLang="zh-CN" sz="100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索引/统计</a:t>
            </a:r>
            <a:endParaRPr lang="en-US" altLang="zh-CN" sz="1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78" name="Text 101"/>
          <p:cNvSpPr/>
          <p:nvPr/>
        </p:nvSpPr>
        <p:spPr>
          <a:xfrm>
            <a:off x="10138953" y="2286571"/>
            <a:ext cx="777240" cy="118872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0" name="Shape 72"/>
          <p:cNvSpPr/>
          <p:nvPr/>
        </p:nvSpPr>
        <p:spPr>
          <a:xfrm>
            <a:off x="2520633" y="1017270"/>
            <a:ext cx="973455" cy="455295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69F0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altLang="zh-CN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</a:t>
            </a:r>
            <a:r>
              <a:rPr lang="zh-CN" altLang="en-US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完成第一版</a:t>
            </a:r>
            <a:r>
              <a:rPr lang="zh-CN" altLang="en-US" sz="1000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数据准备</a:t>
            </a:r>
            <a:endParaRPr lang="zh-CN" altLang="en-US" sz="1000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3" name="Shape 87"/>
          <p:cNvSpPr/>
          <p:nvPr/>
        </p:nvSpPr>
        <p:spPr>
          <a:xfrm>
            <a:off x="1747224" y="3730371"/>
            <a:ext cx="128016" cy="128016"/>
          </a:xfrm>
          <a:prstGeom prst="triangle">
            <a:avLst/>
          </a:prstGeom>
          <a:solidFill>
            <a:srgbClr val="1F8A3B"/>
          </a:solidFill>
          <a:ln w="12700">
            <a:solidFill>
              <a:srgbClr val="1F8A3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84" name="Shape 87"/>
          <p:cNvSpPr/>
          <p:nvPr/>
        </p:nvSpPr>
        <p:spPr>
          <a:xfrm>
            <a:off x="1747224" y="4846066"/>
            <a:ext cx="128016" cy="128016"/>
          </a:xfrm>
          <a:prstGeom prst="triangle">
            <a:avLst/>
          </a:prstGeom>
          <a:solidFill>
            <a:srgbClr val="1F8A3B"/>
          </a:solidFill>
          <a:ln w="12700">
            <a:solidFill>
              <a:srgbClr val="1F8A3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85" name="Shape 88"/>
          <p:cNvSpPr/>
          <p:nvPr/>
        </p:nvSpPr>
        <p:spPr>
          <a:xfrm>
            <a:off x="2513860" y="4413567"/>
            <a:ext cx="972185" cy="41529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E69F00"/>
            </a:solidFill>
            <a:prstDash val="solid"/>
          </a:ln>
        </p:spPr>
        <p:txBody>
          <a:bodyPr anchor="ctr" anchorCtr="0"/>
          <a:lstStyle/>
          <a:p>
            <a:pPr marL="0" indent="0" algn="ctr">
              <a:buNone/>
            </a:pPr>
            <a:r>
              <a:rPr lang="zh-CN" altLang="en-US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检查数据</a:t>
            </a:r>
            <a:endParaRPr lang="zh-CN" alt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buNone/>
            </a:pPr>
            <a:r>
              <a:rPr lang="zh-CN" altLang="en-US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质量</a:t>
            </a:r>
            <a:endParaRPr lang="zh-CN" alt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Shape 26">
            <a:extLst>
              <a:ext uri="{FF2B5EF4-FFF2-40B4-BE49-F238E27FC236}">
                <a16:creationId xmlns:a16="http://schemas.microsoft.com/office/drawing/2014/main" id="{49D5966B-D5B7-A9B1-D2AA-2822AE56C408}"/>
              </a:ext>
            </a:extLst>
          </p:cNvPr>
          <p:cNvSpPr/>
          <p:nvPr/>
        </p:nvSpPr>
        <p:spPr>
          <a:xfrm>
            <a:off x="2999953" y="1573911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4" name="Text 27">
            <a:extLst>
              <a:ext uri="{FF2B5EF4-FFF2-40B4-BE49-F238E27FC236}">
                <a16:creationId xmlns:a16="http://schemas.microsoft.com/office/drawing/2014/main" id="{1F2A9B8C-7928-45A0-40A9-E78BB5D344D9}"/>
              </a:ext>
            </a:extLst>
          </p:cNvPr>
          <p:cNvSpPr/>
          <p:nvPr/>
        </p:nvSpPr>
        <p:spPr>
          <a:xfrm>
            <a:off x="2771353" y="1747647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06.19</a:t>
            </a:r>
          </a:p>
        </p:txBody>
      </p:sp>
      <p:sp>
        <p:nvSpPr>
          <p:cNvPr id="15" name="Shape 91">
            <a:extLst>
              <a:ext uri="{FF2B5EF4-FFF2-40B4-BE49-F238E27FC236}">
                <a16:creationId xmlns:a16="http://schemas.microsoft.com/office/drawing/2014/main" id="{78493F85-C30F-1880-31C6-2E38A1076753}"/>
              </a:ext>
            </a:extLst>
          </p:cNvPr>
          <p:cNvSpPr/>
          <p:nvPr/>
        </p:nvSpPr>
        <p:spPr>
          <a:xfrm>
            <a:off x="2935945" y="1482471"/>
            <a:ext cx="128016" cy="128016"/>
          </a:xfrm>
          <a:prstGeom prst="triangl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67" name="Shape 91">
            <a:extLst>
              <a:ext uri="{FF2B5EF4-FFF2-40B4-BE49-F238E27FC236}">
                <a16:creationId xmlns:a16="http://schemas.microsoft.com/office/drawing/2014/main" id="{8A7ED491-1B00-AEE9-D365-B8D4C8D25AC3}"/>
              </a:ext>
            </a:extLst>
          </p:cNvPr>
          <p:cNvSpPr/>
          <p:nvPr/>
        </p:nvSpPr>
        <p:spPr>
          <a:xfrm>
            <a:off x="2938272" y="3728084"/>
            <a:ext cx="128016" cy="128016"/>
          </a:xfrm>
          <a:prstGeom prst="triangle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68" name="Shape 108">
            <a:extLst>
              <a:ext uri="{FF2B5EF4-FFF2-40B4-BE49-F238E27FC236}">
                <a16:creationId xmlns:a16="http://schemas.microsoft.com/office/drawing/2014/main" id="{7D1F65DF-9676-6F00-D14F-1019638AB506}"/>
              </a:ext>
            </a:extLst>
          </p:cNvPr>
          <p:cNvSpPr/>
          <p:nvPr/>
        </p:nvSpPr>
        <p:spPr>
          <a:xfrm>
            <a:off x="6951980" y="4468115"/>
            <a:ext cx="1167130" cy="32893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altLang="zh-CN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action</a:t>
            </a:r>
          </a:p>
          <a:p>
            <a:pPr algn="ctr"/>
            <a:r>
              <a:rPr lang="zh-CN" altLang="en-US" sz="10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质量评估</a:t>
            </a:r>
            <a:endParaRPr lang="en-US" altLang="zh-CN" sz="1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9" name="Text 109">
            <a:extLst>
              <a:ext uri="{FF2B5EF4-FFF2-40B4-BE49-F238E27FC236}">
                <a16:creationId xmlns:a16="http://schemas.microsoft.com/office/drawing/2014/main" id="{3385BC7E-CDB3-1BDD-E5E0-B81684B2E429}"/>
              </a:ext>
            </a:extLst>
          </p:cNvPr>
          <p:cNvSpPr/>
          <p:nvPr/>
        </p:nvSpPr>
        <p:spPr>
          <a:xfrm>
            <a:off x="5503862" y="4719320"/>
            <a:ext cx="1043940" cy="118745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endParaRPr lang="en-US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5" name="Shape 76">
            <a:extLst>
              <a:ext uri="{FF2B5EF4-FFF2-40B4-BE49-F238E27FC236}">
                <a16:creationId xmlns:a16="http://schemas.microsoft.com/office/drawing/2014/main" id="{39D012EB-BECE-3CE9-708D-0CF110B0A1EC}"/>
              </a:ext>
            </a:extLst>
          </p:cNvPr>
          <p:cNvSpPr/>
          <p:nvPr/>
        </p:nvSpPr>
        <p:spPr>
          <a:xfrm>
            <a:off x="9178046" y="3289004"/>
            <a:ext cx="1108710" cy="32893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zh-CN" altLang="en-US" sz="1000" b="1" dirty="0">
                <a:solidFill>
                  <a:srgbClr val="1B2A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联合训练</a:t>
            </a:r>
            <a:endParaRPr lang="en-US" altLang="zh-CN" sz="1000" b="1" dirty="0">
              <a:solidFill>
                <a:srgbClr val="1B2A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algn="ctr"/>
            <a:r>
              <a:rPr lang="zh-CN" altLang="en-US" sz="10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策略探索</a:t>
            </a:r>
            <a:endParaRPr lang="en-US" altLang="zh-CN" sz="10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4" name="Shape 115">
            <a:extLst>
              <a:ext uri="{FF2B5EF4-FFF2-40B4-BE49-F238E27FC236}">
                <a16:creationId xmlns:a16="http://schemas.microsoft.com/office/drawing/2014/main" id="{CFED24EB-5A3D-E7C3-2B97-A3F96D2B6C5D}"/>
              </a:ext>
            </a:extLst>
          </p:cNvPr>
          <p:cNvSpPr/>
          <p:nvPr/>
        </p:nvSpPr>
        <p:spPr>
          <a:xfrm>
            <a:off x="9668393" y="3721440"/>
            <a:ext cx="128016" cy="128016"/>
          </a:xfrm>
          <a:prstGeom prst="triangl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87" name="Text 33">
            <a:extLst>
              <a:ext uri="{FF2B5EF4-FFF2-40B4-BE49-F238E27FC236}">
                <a16:creationId xmlns:a16="http://schemas.microsoft.com/office/drawing/2014/main" id="{95AF97FB-E148-3999-E4A5-B4184C60D6CE}"/>
              </a:ext>
            </a:extLst>
          </p:cNvPr>
          <p:cNvSpPr/>
          <p:nvPr/>
        </p:nvSpPr>
        <p:spPr>
          <a:xfrm>
            <a:off x="8920170" y="2897336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09.01</a:t>
            </a:r>
          </a:p>
        </p:txBody>
      </p:sp>
      <p:sp>
        <p:nvSpPr>
          <p:cNvPr id="88" name="Shape 32">
            <a:extLst>
              <a:ext uri="{FF2B5EF4-FFF2-40B4-BE49-F238E27FC236}">
                <a16:creationId xmlns:a16="http://schemas.microsoft.com/office/drawing/2014/main" id="{30067DB0-A48C-0C36-CB1A-CF08D8943324}"/>
              </a:ext>
            </a:extLst>
          </p:cNvPr>
          <p:cNvSpPr/>
          <p:nvPr/>
        </p:nvSpPr>
        <p:spPr>
          <a:xfrm>
            <a:off x="10527573" y="2759541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91" name="Shape 127">
            <a:extLst>
              <a:ext uri="{FF2B5EF4-FFF2-40B4-BE49-F238E27FC236}">
                <a16:creationId xmlns:a16="http://schemas.microsoft.com/office/drawing/2014/main" id="{F6AB68D8-3A4F-9C8B-2162-148385A0F157}"/>
              </a:ext>
            </a:extLst>
          </p:cNvPr>
          <p:cNvSpPr/>
          <p:nvPr/>
        </p:nvSpPr>
        <p:spPr>
          <a:xfrm>
            <a:off x="10463565" y="2631271"/>
            <a:ext cx="128016" cy="128016"/>
          </a:xfrm>
          <a:prstGeom prst="triangl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92" name="Shape 32">
            <a:extLst>
              <a:ext uri="{FF2B5EF4-FFF2-40B4-BE49-F238E27FC236}">
                <a16:creationId xmlns:a16="http://schemas.microsoft.com/office/drawing/2014/main" id="{505B5F55-C89E-6095-B499-2ADFE1D8090A}"/>
              </a:ext>
            </a:extLst>
          </p:cNvPr>
          <p:cNvSpPr/>
          <p:nvPr/>
        </p:nvSpPr>
        <p:spPr>
          <a:xfrm>
            <a:off x="9154612" y="2730077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22" name="Shape 127">
            <a:extLst>
              <a:ext uri="{FF2B5EF4-FFF2-40B4-BE49-F238E27FC236}">
                <a16:creationId xmlns:a16="http://schemas.microsoft.com/office/drawing/2014/main" id="{B4885484-72E8-ABC6-63DC-E7631DDD2979}"/>
              </a:ext>
            </a:extLst>
          </p:cNvPr>
          <p:cNvSpPr/>
          <p:nvPr/>
        </p:nvSpPr>
        <p:spPr>
          <a:xfrm>
            <a:off x="9090604" y="2601807"/>
            <a:ext cx="128016" cy="128016"/>
          </a:xfrm>
          <a:prstGeom prst="triangl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23" name="Text 33">
            <a:extLst>
              <a:ext uri="{FF2B5EF4-FFF2-40B4-BE49-F238E27FC236}">
                <a16:creationId xmlns:a16="http://schemas.microsoft.com/office/drawing/2014/main" id="{F6648AE7-CF2A-9A88-E90B-92A36B26CEDC}"/>
              </a:ext>
            </a:extLst>
          </p:cNvPr>
          <p:cNvSpPr/>
          <p:nvPr/>
        </p:nvSpPr>
        <p:spPr>
          <a:xfrm>
            <a:off x="8604090" y="5148623"/>
            <a:ext cx="457200" cy="155448"/>
          </a:xfrm>
          <a:prstGeom prst="rect">
            <a:avLst/>
          </a:prstGeom>
          <a:noFill/>
        </p:spPr>
        <p:txBody>
          <a:bodyPr wrap="square" lIns="381" tIns="381" rIns="381" bIns="381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09.01</a:t>
            </a:r>
          </a:p>
        </p:txBody>
      </p:sp>
      <p:sp>
        <p:nvSpPr>
          <p:cNvPr id="124" name="Shape 62">
            <a:extLst>
              <a:ext uri="{FF2B5EF4-FFF2-40B4-BE49-F238E27FC236}">
                <a16:creationId xmlns:a16="http://schemas.microsoft.com/office/drawing/2014/main" id="{D65AEC15-A4F8-7347-688F-366F2917B56D}"/>
              </a:ext>
            </a:extLst>
          </p:cNvPr>
          <p:cNvSpPr/>
          <p:nvPr/>
        </p:nvSpPr>
        <p:spPr>
          <a:xfrm>
            <a:off x="8832690" y="4972897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30" name="Shape 135">
            <a:extLst>
              <a:ext uri="{FF2B5EF4-FFF2-40B4-BE49-F238E27FC236}">
                <a16:creationId xmlns:a16="http://schemas.microsoft.com/office/drawing/2014/main" id="{502E2981-5FAB-4B13-E3FC-6F998C6C4C07}"/>
              </a:ext>
            </a:extLst>
          </p:cNvPr>
          <p:cNvSpPr/>
          <p:nvPr/>
        </p:nvSpPr>
        <p:spPr>
          <a:xfrm>
            <a:off x="8768682" y="4881457"/>
            <a:ext cx="128016" cy="128016"/>
          </a:xfrm>
          <a:prstGeom prst="triangl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31" name="Shape 62">
            <a:extLst>
              <a:ext uri="{FF2B5EF4-FFF2-40B4-BE49-F238E27FC236}">
                <a16:creationId xmlns:a16="http://schemas.microsoft.com/office/drawing/2014/main" id="{F47BD00B-016D-F7D5-39F1-FB3ABE988EFE}"/>
              </a:ext>
            </a:extLst>
          </p:cNvPr>
          <p:cNvSpPr/>
          <p:nvPr/>
        </p:nvSpPr>
        <p:spPr>
          <a:xfrm>
            <a:off x="7493847" y="4965192"/>
            <a:ext cx="0" cy="109728"/>
          </a:xfrm>
          <a:prstGeom prst="line">
            <a:avLst/>
          </a:prstGeom>
          <a:noFill/>
          <a:ln w="10160">
            <a:solidFill>
              <a:srgbClr val="2B2B2B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  <p:sp>
        <p:nvSpPr>
          <p:cNvPr id="132" name="Shape 135">
            <a:extLst>
              <a:ext uri="{FF2B5EF4-FFF2-40B4-BE49-F238E27FC236}">
                <a16:creationId xmlns:a16="http://schemas.microsoft.com/office/drawing/2014/main" id="{788F0089-5F77-26FF-284C-45422E6133E9}"/>
              </a:ext>
            </a:extLst>
          </p:cNvPr>
          <p:cNvSpPr/>
          <p:nvPr/>
        </p:nvSpPr>
        <p:spPr>
          <a:xfrm>
            <a:off x="7429839" y="4873752"/>
            <a:ext cx="128016" cy="128016"/>
          </a:xfrm>
          <a:prstGeom prst="triangle">
            <a:avLst/>
          </a:prstGeom>
          <a:solidFill>
            <a:srgbClr val="8A8A8A"/>
          </a:solidFill>
          <a:ln w="12700">
            <a:solidFill>
              <a:srgbClr val="8A8A8A"/>
            </a:solidFill>
            <a:prstDash val="solid"/>
          </a:ln>
        </p:spPr>
        <p:txBody>
          <a:bodyPr anchor="ctr" anchorCtr="0"/>
          <a:lstStyle/>
          <a:p>
            <a:endParaRPr lang="zh-CN" alt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203</Words>
  <Application>Microsoft Office PowerPoint</Application>
  <PresentationFormat>宽屏</PresentationFormat>
  <Paragraphs>93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OpenAI</dc:creator>
  <cp:lastModifiedBy>zhirui gao</cp:lastModifiedBy>
  <cp:revision>3</cp:revision>
  <dcterms:created xsi:type="dcterms:W3CDTF">2026-06-11T01:41:00Z</dcterms:created>
  <dcterms:modified xsi:type="dcterms:W3CDTF">2026-06-11T04:07:45Z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BA4B9511033E45588B5DC57987F9A4A4_12</vt:lpwstr>
  </property>
</Properties>
</file>