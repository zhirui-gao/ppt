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</a:rPr>
              <a:t>World-Language-Action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</a:rPr>
              <a:t>Unified World Modeling, Language Reasoning, and Action Synthesis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3317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F9B8E"/>
          </a:solidFill>
          <a:ln w="12700">
            <a:solidFill>
              <a:srgbClr val="0F9B8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77440"/>
            <a:ext cx="1956816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组会汇报 / Paper Reading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233172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377440"/>
            <a:ext cx="1362456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arXiv:2606.05979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9F6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9B8E"/>
                </a:solidFill>
              </a:rPr>
              <a:t>2B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active parameters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3C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41148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56C00"/>
                </a:solidFill>
              </a:rPr>
              <a:t>40 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71800" y="45720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inference latency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BED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41148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6A58"/>
                </a:solidFill>
              </a:rPr>
              <a:t>92.94%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20640" y="45720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RoboTwin Clean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7804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0E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41148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A5ACD"/>
                </a:solidFill>
              </a:rPr>
              <a:t>56.5%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69480" y="45720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RMBench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486400"/>
            <a:ext cx="1060704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核心问题：如何把 VLA 的语言推理能力、WAM 的世界建模能力，以及机器人动作生成统一到一个低延迟框架？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 WLA？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VLA 擅长语言，WAM 擅长世界建模，但两者各有短板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44752"/>
            <a:ext cx="2688336" cy="8595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VLA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Vision-Language-Action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2651760" cy="12801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语言理解与指令跟随强
• 通常直接从观测到动作
• 缺少显式 future state / physical dynamics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444752"/>
            <a:ext cx="2688336" cy="8595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World-Action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606040"/>
            <a:ext cx="2651760" cy="12801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通过未来视觉预测提供 action prior
• 可利用大量视频数据
• 高层语言推理和 memory 能力弱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41080" y="13716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1444752"/>
            <a:ext cx="2688336" cy="8595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WLA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World-Language-Action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2606040"/>
            <a:ext cx="2651760" cy="12801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next state = textual intention + physical dynamics
• 训练时用 World Expert 塑造表示
• 推理时可关闭世界预测，低延迟执行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11880" y="1874520"/>
            <a:ext cx="868680" cy="0"/>
          </a:xfrm>
          <a:prstGeom prst="line">
            <a:avLst/>
          </a:prstGeom>
          <a:noFill/>
          <a:ln w="2540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1874520"/>
            <a:ext cx="868680" cy="0"/>
          </a:xfrm>
          <a:prstGeom prst="line">
            <a:avLst/>
          </a:prstGeom>
          <a:noFill/>
          <a:ln w="2540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5074920"/>
            <a:ext cx="10332720" cy="9880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6A58"/>
                </a:solidFill>
              </a:rPr>
              <a:t>动机结论：未来状态不应该只是“下一张图”，</a:t>
            </a:r>
            <a:endParaRPr lang="en-US" sz="2000" b="1" dirty="0">
              <a:solidFill>
                <a:srgbClr val="D66A58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D66A58"/>
                </a:solidFill>
              </a:rPr>
              <a:t>还应该包含“接下来要做什么”和“怎样发生物理变化”。</a:t>
            </a:r>
            <a:endParaRPr lang="en-US" sz="2000" b="1" dirty="0">
              <a:solidFill>
                <a:srgbClr val="D66A5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论文贡献与核心主张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next-state prediction 拆成两个互补表示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90472"/>
            <a:ext cx="2825496" cy="813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A5ACD"/>
                </a:solidFill>
              </a:rPr>
              <a:t>Textual Intention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6A5ACD"/>
                </a:solidFill>
              </a:rPr>
              <a:t>语义层未来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2834640" cy="14630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由原始指令分解而来的 sub-task window
• 负责 long-horizon progress tracking
• 以文本 token 形式用 CE loss 监督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490472"/>
            <a:ext cx="2825496" cy="813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6A58"/>
                </a:solidFill>
              </a:rPr>
              <a:t>Physical Dynamics hₜ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66A58"/>
                </a:solidFill>
              </a:rPr>
              <a:t>物理层状态转移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606040"/>
            <a:ext cx="2834640" cy="14630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由 meta-queries 从 AR backbone 上下文提取
• 可理解为 latent action / transition representation
• 同时服务 World Expert 与 Action Expert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58200" y="14173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490472"/>
            <a:ext cx="2825496" cy="8138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9B8E"/>
                </a:solidFill>
              </a:rPr>
              <a:t>Action Synthesis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9B8E"/>
                </a:solidFill>
              </a:rPr>
              <a:t>可执行动作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606040"/>
            <a:ext cx="2834640" cy="14630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Action Expert 接收 hₜ 与 robot state qₜ
• 输出 n-step action chunk
• receding-horizon 闭环执行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794760" y="1901952"/>
            <a:ext cx="73152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1901952"/>
            <a:ext cx="73152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</a:rPr>
              <a:t>WLA 把 “语言阶段推理” 和 “世界状态转移”</a:t>
            </a:r>
            <a:endParaRPr lang="en-US" sz="2000" b="1" dirty="0">
              <a:solidFill>
                <a:srgbClr val="17324D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</a:rPr>
              <a:t> 统一成 next-state prediction，再用于动作生成。</a:t>
            </a:r>
            <a:endParaRPr lang="en-US" sz="2000" b="1" dirty="0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论文总览图：VLA / WAM / WLA 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Figure 1 展示 WLA 的定位：不是直接 action，也不是 image-then-act，而是 textual intention + physical dynamics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4</a:t>
            </a:r>
            <a:endParaRPr lang="en-US" sz="800" dirty="0"/>
          </a:p>
        </p:txBody>
      </p:sp>
      <p:pic>
        <p:nvPicPr>
          <p:cNvPr id="8" name="Image 0" descr="/mnt/data/wla_assets/fig1_arch.png"/>
          <p:cNvPicPr>
            <a:picLocks noChangeAspect="1"/>
          </p:cNvPicPr>
          <p:nvPr/>
        </p:nvPicPr>
        <p:blipFill>
          <a:blip r:embed="rId1"/>
          <a:srcRect t="7109" b="36447"/>
          <a:stretch>
            <a:fillRect/>
          </a:stretch>
        </p:blipFill>
        <p:spPr>
          <a:xfrm>
            <a:off x="-63500" y="1172845"/>
            <a:ext cx="12020550" cy="49517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</a:rPr>
              <a:t>Source: WLA paper, Fig. 1.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WLA 的输入输出与闭环控制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每个时间步预测一个 action chunk，并滚动执行直到任务完成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455" y="177419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607" y="1847342"/>
            <a:ext cx="1911096" cy="1865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输入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current obs oₜ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history obs oₜ₋ₕ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robot state qₜ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instruction 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memory M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90215" y="204851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367" y="2121662"/>
            <a:ext cx="1865376" cy="10424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AR Transformer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(VLM backbone)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18491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258062"/>
            <a:ext cx="2002536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5ACD"/>
                </a:solidFill>
              </a:rPr>
              <a:t>Textual Intention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A5ACD"/>
                </a:solidFill>
              </a:rPr>
              <a:t>sub-task window Sₜ</a:t>
            </a:r>
            <a:endParaRPr lang="en-US" sz="1400" b="1" dirty="0">
              <a:solidFill>
                <a:srgbClr val="6A5ACD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4835" y="26416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  <p:txBody>
          <a:bodyPr/>
          <a:p>
            <a:endParaRPr lang="zh-CN" altLang="en-US" sz="2000"/>
          </a:p>
        </p:txBody>
      </p:sp>
      <p:sp>
        <p:nvSpPr>
          <p:cNvPr id="15" name="Text 13"/>
          <p:cNvSpPr/>
          <p:nvPr/>
        </p:nvSpPr>
        <p:spPr>
          <a:xfrm>
            <a:off x="5737987" y="2714752"/>
            <a:ext cx="2002536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Physical Dynamics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hₜ from meta-queries</a:t>
            </a:r>
            <a:endParaRPr lang="en-US" sz="1400" b="1" dirty="0">
              <a:solidFill>
                <a:srgbClr val="D66A5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73770" y="1847215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6922" y="1920367"/>
            <a:ext cx="1819656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World Expert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future state oₜ₊ₙ</a:t>
            </a:r>
            <a:endParaRPr lang="en-US" sz="1400" b="1" dirty="0">
              <a:solidFill>
                <a:srgbClr val="D66A58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96630" y="2897505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9782" y="2970657"/>
            <a:ext cx="1819656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Action Expert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action chunk aₜ:ₜ₊ₙ</a:t>
            </a:r>
            <a:endParaRPr lang="en-US" sz="1400" b="1" dirty="0">
              <a:solidFill>
                <a:srgbClr val="0F9B8E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 flipH="1">
            <a:off x="6697980" y="2098675"/>
            <a:ext cx="8890" cy="497205"/>
          </a:xfrm>
          <a:prstGeom prst="line">
            <a:avLst/>
          </a:prstGeom>
          <a:noFill/>
          <a:ln w="2286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30820" y="3071495"/>
            <a:ext cx="788035" cy="287020"/>
          </a:xfrm>
          <a:prstGeom prst="line">
            <a:avLst/>
          </a:prstGeom>
          <a:noFill/>
          <a:ln w="2286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36610" y="42367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3CC"/>
          </a:solidFill>
          <a:ln w="15240">
            <a:solidFill>
              <a:srgbClr val="E2B5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9762" y="4309872"/>
            <a:ext cx="195681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5A00"/>
                </a:solidFill>
              </a:rPr>
              <a:t>执行 action chunk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A5A00"/>
                </a:solidFill>
              </a:rPr>
              <a:t>环境推进到新状态</a:t>
            </a:r>
            <a:endParaRPr lang="en-US" sz="1200" b="1" dirty="0">
              <a:solidFill>
                <a:srgbClr val="8A5A0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" y="562356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</a:rPr>
              <a:t>Receding-horizon：不是一次性完成整个任务，而是“预测 chunk → 执行 → 新观测 → 再预测”。</a:t>
            </a:r>
            <a:endParaRPr lang="en-US" b="1" dirty="0">
              <a:solidFill>
                <a:srgbClr val="17324D"/>
              </a:solidFill>
            </a:endParaRPr>
          </a:p>
        </p:txBody>
      </p:sp>
      <p:sp>
        <p:nvSpPr>
          <p:cNvPr id="30" name="Shape 22"/>
          <p:cNvSpPr/>
          <p:nvPr/>
        </p:nvSpPr>
        <p:spPr>
          <a:xfrm>
            <a:off x="2418715" y="2711323"/>
            <a:ext cx="548640" cy="0"/>
          </a:xfrm>
          <a:prstGeom prst="line">
            <a:avLst/>
          </a:prstGeom>
          <a:noFill/>
          <a:ln w="2286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31" name="Shape 22"/>
          <p:cNvSpPr/>
          <p:nvPr/>
        </p:nvSpPr>
        <p:spPr>
          <a:xfrm flipV="1">
            <a:off x="5024755" y="1607820"/>
            <a:ext cx="644525" cy="1103630"/>
          </a:xfrm>
          <a:prstGeom prst="line">
            <a:avLst/>
          </a:prstGeom>
          <a:noFill/>
          <a:ln w="2286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32" name="Shape 22"/>
          <p:cNvSpPr/>
          <p:nvPr/>
        </p:nvSpPr>
        <p:spPr>
          <a:xfrm flipV="1">
            <a:off x="7861935" y="2332990"/>
            <a:ext cx="690880" cy="738505"/>
          </a:xfrm>
          <a:prstGeom prst="line">
            <a:avLst/>
          </a:prstGeom>
          <a:noFill/>
          <a:ln w="2286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33" name="Shape 21"/>
          <p:cNvSpPr/>
          <p:nvPr/>
        </p:nvSpPr>
        <p:spPr>
          <a:xfrm flipH="1">
            <a:off x="9478645" y="3759200"/>
            <a:ext cx="8890" cy="497205"/>
          </a:xfrm>
          <a:prstGeom prst="line">
            <a:avLst/>
          </a:prstGeom>
          <a:noFill/>
          <a:ln w="2286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34" name="Shape 22"/>
          <p:cNvSpPr/>
          <p:nvPr/>
        </p:nvSpPr>
        <p:spPr>
          <a:xfrm>
            <a:off x="5002530" y="2716530"/>
            <a:ext cx="661670" cy="354330"/>
          </a:xfrm>
          <a:prstGeom prst="line">
            <a:avLst/>
          </a:prstGeom>
          <a:noFill/>
          <a:ln w="22860">
            <a:solidFill>
              <a:srgbClr val="0F9B8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Textual Intention Learning：子任务窗口监督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固定长度 action chunk 与可变事件边界不对齐时，预测连续 sub-task window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16152"/>
            <a:ext cx="213969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完整任务指令 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“把杯子放进盒子”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1481328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14300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216152"/>
            <a:ext cx="287121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5ACD"/>
                </a:solidFill>
              </a:rPr>
              <a:t>子任务序列 L̂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A5ACD"/>
                </a:solidFill>
              </a:rPr>
              <a:t>reach → grasp → lift → 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6400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11430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3CC"/>
          </a:solidFill>
          <a:ln w="15240">
            <a:solidFill>
              <a:srgbClr val="E2B5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216152"/>
            <a:ext cx="323697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5A00"/>
                </a:solidFill>
              </a:rPr>
              <a:t>当前窗口 [t,t+n]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A5A00"/>
                </a:solidFill>
              </a:rPr>
              <a:t>覆盖 grasp + lift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74320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816352"/>
            <a:ext cx="191109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reach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0-30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74320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816352"/>
            <a:ext cx="191109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grasp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31-50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74320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2816352"/>
            <a:ext cx="191109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lift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51-80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74320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2712" y="2816352"/>
            <a:ext cx="1911096" cy="5394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place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</a:rPr>
              <a:t>81-120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703320"/>
            <a:ext cx="3657600" cy="0"/>
          </a:xfrm>
          <a:prstGeom prst="line">
            <a:avLst/>
          </a:prstGeom>
          <a:noFill/>
          <a:ln w="38100">
            <a:solidFill>
              <a:srgbClr val="D66A58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840480" y="3794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6A58"/>
                </a:solidFill>
              </a:rPr>
              <a:t>action chunk [t,t+n]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457200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4645152"/>
            <a:ext cx="43342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6A58"/>
                </a:solidFill>
              </a:rPr>
              <a:t>训练目标 Sₜ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66A58"/>
                </a:solidFill>
              </a:rPr>
              <a:t>"grasp the cup; lift the cup"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本质：Sₜ 不是固定类别，而是文本 token 序列，用 Llang 做 next-token CE 监督；Memory M 记录已执行子任务。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Physical Dynamics：meta-query 如何提取 hₜ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meta-query 是 learnable query tokens；输出的 hidden states 才是 physical dynamics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36192"/>
            <a:ext cx="2414016" cy="10424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Context tokens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obs / instruction / memory / Sₜ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1546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F3CC"/>
          </a:solidFill>
          <a:ln w="15240">
            <a:solidFill>
              <a:srgbClr val="E2B5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227832"/>
            <a:ext cx="2414016" cy="6766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A00"/>
                </a:solidFill>
              </a:rPr>
              <a:t>64 learnable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A5A00"/>
                </a:solidFill>
              </a:rPr>
              <a:t>meta-queries Q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182880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901952"/>
            <a:ext cx="2139696" cy="11338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AR Transformer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causal attention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23760" y="18745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947672"/>
            <a:ext cx="2414016" cy="9966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Physical Dynamics hₜ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meta-query outputs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04120" y="14173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1490472"/>
            <a:ext cx="13624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World Expert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future VAE feature</a:t>
            </a:r>
            <a:endParaRPr lang="en-US" sz="1400" b="1" dirty="0">
              <a:solidFill>
                <a:srgbClr val="D66A58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104120" y="27432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77272" y="2816352"/>
            <a:ext cx="13624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Action Expert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action chunk</a:t>
            </a:r>
            <a:endParaRPr lang="en-US" sz="1400" b="1" dirty="0">
              <a:solidFill>
                <a:srgbClr val="0F9B8E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83280" y="2057400"/>
            <a:ext cx="821055" cy="489585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3368675" y="2538095"/>
            <a:ext cx="823595" cy="103505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468880"/>
            <a:ext cx="640080" cy="0"/>
          </a:xfrm>
          <a:prstGeom prst="line">
            <a:avLst/>
          </a:prstGeom>
          <a:noFill/>
          <a:ln w="2286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9783445" y="1808480"/>
            <a:ext cx="339090" cy="675640"/>
          </a:xfrm>
          <a:prstGeom prst="line">
            <a:avLst/>
          </a:prstGeom>
          <a:noFill/>
          <a:ln w="1905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2560320"/>
            <a:ext cx="210312" cy="566928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937760"/>
            <a:ext cx="1024128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关系：Textual Intention 告诉模型“要做什么”；meta-query 从上下文中提取“怎样发生物理变化”；hₜ 同时连接 world prediction 和 action generation。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World Expert 与 Action Expert：两个 expert 吃什么？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两者共享 hₜ，但额外输入不同：视觉状态 vs 机器人本体状态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87825" y="31724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42562" y="3213862"/>
            <a:ext cx="223113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hₜ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physical dynamics / latent action</a:t>
            </a:r>
            <a:endParaRPr lang="en-US" sz="1400" b="1" dirty="0">
              <a:solidFill>
                <a:srgbClr val="D66A58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33145" y="16916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297" y="1764792"/>
            <a:ext cx="2414016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当前视觉状态 oₜ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vision encoder / VAE feature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24985" y="16002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137" y="1673352"/>
            <a:ext cx="200253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World Expert fwm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input: hₜ + oₜ</a:t>
            </a:r>
            <a:endParaRPr lang="en-US" sz="1400" b="1" dirty="0">
              <a:solidFill>
                <a:srgbClr val="D66A58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296785" y="16916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9937" y="1764792"/>
            <a:ext cx="2596896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6A58"/>
                </a:solidFill>
              </a:rPr>
              <a:t>未来视觉状态 oₜ₊ₙ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66A58"/>
                </a:solidFill>
              </a:rPr>
              <a:t>VAE feature / optional depth</a:t>
            </a:r>
            <a:endParaRPr lang="en-US" sz="1200" b="1" dirty="0">
              <a:solidFill>
                <a:srgbClr val="D66A5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06170" y="47777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9322" y="4850892"/>
            <a:ext cx="2414016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机器人状态 qₜ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joint / EEF / gripper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98010" y="46863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1162" y="4759452"/>
            <a:ext cx="200253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Action Expert fact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input: hₜ + qₜ</a:t>
            </a:r>
            <a:endParaRPr lang="en-US" sz="1400" b="1" dirty="0">
              <a:solidFill>
                <a:srgbClr val="0F9B8E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69810" y="47777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2962" y="4850892"/>
            <a:ext cx="2596896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B8E"/>
                </a:solidFill>
              </a:rPr>
              <a:t>动作 chunk aₜ:ₜ₊ₙ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9B8E"/>
                </a:solidFill>
              </a:rPr>
              <a:t>flow-matching head</a:t>
            </a:r>
            <a:endParaRPr lang="en-US" sz="1200" b="1" dirty="0">
              <a:solidFill>
                <a:srgbClr val="0F9B8E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 flipV="1">
            <a:off x="5349875" y="2497455"/>
            <a:ext cx="0" cy="734695"/>
          </a:xfrm>
          <a:prstGeom prst="line">
            <a:avLst/>
          </a:prstGeom>
          <a:noFill/>
          <a:ln w="1905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28920" y="3949700"/>
            <a:ext cx="0" cy="756920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39185" y="2057400"/>
            <a:ext cx="59436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19545" y="2057400"/>
            <a:ext cx="685800" cy="0"/>
          </a:xfrm>
          <a:prstGeom prst="line">
            <a:avLst/>
          </a:prstGeom>
          <a:noFill/>
          <a:ln w="1905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12210" y="5143500"/>
            <a:ext cx="59436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92570" y="5143500"/>
            <a:ext cx="685800" cy="0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68680" y="5847715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注意：Textual Intention 不直接写进 expert 公式，而是先参与生成 hₜ，再间接影响两个 expert。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训练目标与数据监督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WLA 将语言、世界、动作三类监督放入同一个训练目标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490472"/>
            <a:ext cx="259689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A5ACD"/>
                </a:solidFill>
              </a:rPr>
              <a:t>Llang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A5ACD"/>
                </a:solidFill>
              </a:rPr>
              <a:t>subtask generation CE</a:t>
            </a:r>
            <a:endParaRPr lang="en-US" sz="1600" b="1" dirty="0">
              <a:solidFill>
                <a:srgbClr val="6A5ACD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490472"/>
            <a:ext cx="259689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6A58"/>
                </a:solidFill>
              </a:rPr>
              <a:t>Lwm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66A58"/>
                </a:solidFill>
              </a:rPr>
              <a:t>world modeling FM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49640" y="1417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22792" y="1490472"/>
            <a:ext cx="2596896" cy="7680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9B8E"/>
                </a:solidFill>
              </a:rPr>
              <a:t>Lact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9B8E"/>
                </a:solidFill>
              </a:rPr>
              <a:t>action FM</a:t>
            </a:r>
            <a:endParaRPr lang="en-US" sz="1600" b="1" dirty="0">
              <a:solidFill>
                <a:srgbClr val="0F9B8E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2606040"/>
            <a:ext cx="2651760" cy="1234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监督对象：sub-task window 文本 token
• 作用：长程任务进度追踪
• 依赖：subtask + temporal span 标注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2606040"/>
            <a:ext cx="2651760" cy="1234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监督对象：future visual state 的 VAE feature
• 作用：约束 hₜ 学物理状态转移
• 默认推理时可关闭 World Expert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41080" y="2606040"/>
            <a:ext cx="2651760" cy="1234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</a:rPr>
              <a:t>• 监督对象：action chunk aₜ:ₜ₊ₙ
• 作用：直接学习可执行动作
• Action Expert 输入 hₜ + qₜ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29000" y="49834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5056632"/>
            <a:ext cx="515721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= Lact + α Lwm + β Llang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α = 0.1, β = 0.005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推理：Efficient Mode vs Test-Time Scaling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World Expert 默认关闭；需要更强控制时再开启做 imagination-based selection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17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B8E"/>
                </a:solidFill>
              </a:rPr>
              <a:t>Efficient Mode</a:t>
            </a:r>
            <a:endParaRPr lang="en-US" sz="2000" b="1" dirty="0">
              <a:solidFill>
                <a:srgbClr val="0F9B8E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25880" y="201168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2084832"/>
            <a:ext cx="369417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Observation + Instruction + Memory</a:t>
            </a:r>
            <a:endParaRPr lang="en-US" sz="1400" b="1" dirty="0">
              <a:solidFill>
                <a:srgbClr val="22222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2560320"/>
            <a:ext cx="0" cy="411480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08760" y="29718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3044952"/>
            <a:ext cx="332841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AR Transformer → hₜ</a:t>
            </a:r>
            <a:endParaRPr lang="en-US" sz="1400" b="1" dirty="0">
              <a:solidFill>
                <a:srgbClr val="222222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46120" y="3520440"/>
            <a:ext cx="0" cy="411480"/>
          </a:xfrm>
          <a:prstGeom prst="line">
            <a:avLst/>
          </a:prstGeom>
          <a:noFill/>
          <a:ln w="19050">
            <a:solidFill>
              <a:srgbClr val="0F9B8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08760" y="39319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81912" y="4005072"/>
            <a:ext cx="332841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Action Expert → action chunk</a:t>
            </a:r>
            <a:endParaRPr lang="en-US" sz="1400" b="1" dirty="0">
              <a:solidFill>
                <a:srgbClr val="22222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特点：World Expert 关闭，约 40 ms；适合实时控制。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BEDEA"/>
          </a:solidFill>
          <a:ln w="12700">
            <a:solidFill>
              <a:srgbClr val="D66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417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6A58"/>
                </a:solidFill>
              </a:rPr>
              <a:t>TTS Mode</a:t>
            </a:r>
            <a:endParaRPr lang="en-US" sz="2000" b="1" dirty="0">
              <a:solidFill>
                <a:srgbClr val="D66A58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95160" y="18745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947672"/>
            <a:ext cx="3694176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sample K action chunks</a:t>
            </a:r>
            <a:endParaRPr lang="en-US" sz="1400" b="1" dirty="0">
              <a:solidFill>
                <a:srgbClr val="22222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15400" y="2377440"/>
            <a:ext cx="0" cy="365760"/>
          </a:xfrm>
          <a:prstGeom prst="line">
            <a:avLst/>
          </a:prstGeom>
          <a:noFill/>
          <a:ln w="1905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03720" y="27432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816352"/>
            <a:ext cx="387705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</a:rPr>
              <a:t>World Expert imagines K future frames</a:t>
            </a:r>
            <a:endParaRPr lang="en-US" sz="1200" b="1" dirty="0">
              <a:solidFill>
                <a:srgbClr val="222222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15400" y="3291840"/>
            <a:ext cx="0" cy="365760"/>
          </a:xfrm>
          <a:prstGeom prst="line">
            <a:avLst/>
          </a:prstGeom>
          <a:noFill/>
          <a:ln w="19050">
            <a:solidFill>
              <a:srgbClr val="D66A5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03720" y="36576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3730752"/>
            <a:ext cx="387705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</a:rPr>
              <a:t>Value Model scores futures → choose best</a:t>
            </a:r>
            <a:endParaRPr lang="en-US" sz="1200" b="1" dirty="0">
              <a:solidFill>
                <a:srgbClr val="22222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29400" y="48006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特点：想象多个候选结果，在真实执行前过滤失败轨迹。</a:t>
            </a:r>
            <a:endParaRPr lang="en-US" sz="1400" b="1" dirty="0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WLA-0 实现细节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3.4B total parameters；默认推理 active params 约 2B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9F6F3"/>
          </a:solidFill>
          <a:ln w="1524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490472"/>
            <a:ext cx="2505456" cy="10424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Backbone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RynnBrain-2B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2.1B params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BEDEA"/>
          </a:solidFill>
          <a:ln w="15240">
            <a:solidFill>
              <a:srgbClr val="D66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490472"/>
            <a:ext cx="2505456" cy="10424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World Expert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SANA-600M + VAE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900M params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0EDFF"/>
          </a:solidFill>
          <a:ln w="15240">
            <a:solidFill>
              <a:srgbClr val="6A5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8512" y="1490472"/>
            <a:ext cx="2505456" cy="10424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5ACD"/>
                </a:solidFill>
              </a:rPr>
              <a:t>Action Expert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A5ACD"/>
                </a:solidFill>
              </a:rPr>
              <a:t>Flow-matching head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A5ACD"/>
                </a:solidFill>
              </a:rPr>
              <a:t>390M params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2011680"/>
            <a:ext cx="10972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2011680"/>
            <a:ext cx="10972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" y="3337560"/>
            <a:ext cx="10424160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584448"/>
            <a:ext cx="10058400" cy="1234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每个 expert 28 layers；meta-queries = 64。
• action chunk size：LIBERO = 8，其余 benchmark = 32。
• 优化：DeepSpeed + AdamW，cosine LR，warmup 1000 steps，gradient clipping 1.0。
• 加速：CUDA Graph、operator fusion、precomputation &amp; KV caching，延迟从约116ms降到40ms内。</a:t>
            </a:r>
            <a:endParaRPr lang="en-US" sz="14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实验矩阵：评估哪些能力？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四类实验分别验证多任务、长程记忆、真实低延迟、无动作视频学习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RoboTwin 2.0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3063240" cy="411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50 个双臂任务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Clean + Rand.</a:t>
            </a:r>
            <a:endParaRPr lang="en-US" sz="1200" dirty="0">
              <a:solidFill>
                <a:srgbClr val="666666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30632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B8E"/>
                </a:solidFill>
              </a:rPr>
              <a:t>多任务操作 / 鲁棒性</a:t>
            </a:r>
            <a:endParaRPr lang="en-US" sz="1200" b="1" dirty="0">
              <a:solidFill>
                <a:srgbClr val="0F9B8E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LIBERO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3063240" cy="411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Spatial/Object/Goal/Long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每套 10 tasks</a:t>
            </a:r>
            <a:endParaRPr lang="en-US" sz="1200" dirty="0">
              <a:solidFill>
                <a:srgbClr val="666666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2240280"/>
            <a:ext cx="30632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6A58"/>
                </a:solidFill>
              </a:rPr>
              <a:t>标准 VLA benchmark / TTS</a:t>
            </a:r>
            <a:endParaRPr lang="en-US" sz="1200" b="1" dirty="0">
              <a:solidFill>
                <a:srgbClr val="D66A5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1234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37160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RMBench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0" y="1737360"/>
            <a:ext cx="30632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4 个 memory-dependent 任务</a:t>
            </a:r>
            <a:endParaRPr lang="en-US" sz="1200" dirty="0">
              <a:solidFill>
                <a:srgbClr val="666666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12480" y="2240280"/>
            <a:ext cx="30632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B8E"/>
                </a:solidFill>
              </a:rPr>
              <a:t>长程 subtask reasoning</a:t>
            </a:r>
            <a:endParaRPr lang="en-US" sz="1200" b="1" dirty="0">
              <a:solidFill>
                <a:srgbClr val="0F9B8E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33832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2044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Real Robot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3063240" cy="4114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4 个真实双臂任务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standard/OOD</a:t>
            </a:r>
            <a:endParaRPr lang="en-US" sz="1200" dirty="0">
              <a:solidFill>
                <a:srgbClr val="666666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30632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6A58"/>
                </a:solidFill>
              </a:rPr>
              <a:t>低延迟与真实泛化</a:t>
            </a:r>
            <a:endParaRPr lang="en-US" sz="1200" b="1" dirty="0">
              <a:solidFill>
                <a:srgbClr val="D66A58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34840" y="33832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52044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Action-free Video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0" y="3886200"/>
            <a:ext cx="306324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45 seen + 5 unseen tasks</a:t>
            </a:r>
            <a:endParaRPr lang="en-US" sz="1200" dirty="0">
              <a:solidFill>
                <a:srgbClr val="666666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0" y="4389120"/>
            <a:ext cx="3063240" cy="2743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B8E"/>
                </a:solidFill>
              </a:rPr>
              <a:t>从无动作视频学新技能</a:t>
            </a:r>
            <a:endParaRPr lang="en-US" sz="1200" b="1" dirty="0">
              <a:solidFill>
                <a:srgbClr val="0F9B8E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5192395"/>
            <a:ext cx="10515600" cy="10255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6A58"/>
                </a:solidFill>
              </a:rPr>
              <a:t>论文没有展示一个统一大规模 embodied pretraining，而是在各 benchmark / 设置上训练或微调 WLA-0；</a:t>
            </a:r>
            <a:endParaRPr lang="en-US" sz="1250" b="1" dirty="0">
              <a:solidFill>
                <a:srgbClr val="D66A58"/>
              </a:solidFill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D66A58"/>
                </a:solidFill>
              </a:rPr>
              <a:t>其卖点是 no embodied pretraining 也能强表现。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RoboTwin &amp; LIBERO：多任务 benchmark 结果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WLA-0 以更少 active params 匹配/超过 WAM 与 VLA 基线；TTS 进一步提高 LIBERO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949440" y="1188720"/>
            <a:ext cx="4389120" cy="201168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161848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π0.5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823960" y="1627632"/>
            <a:ext cx="160020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23960" y="1627632"/>
            <a:ext cx="1324005" cy="15544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0" y="160020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82.74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7223760" y="202996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Fast-WAM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823960" y="2039112"/>
            <a:ext cx="160020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23960" y="2039112"/>
            <a:ext cx="1470264" cy="1554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0" y="201168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91.88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7223760" y="244144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WLA-0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823960" y="2450592"/>
            <a:ext cx="160020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23960" y="2450592"/>
            <a:ext cx="1487226" cy="15544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0" y="242316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92.94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7315200" y="129844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RoboTwin Clean Success (%)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1520" y="36576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3886200"/>
            <a:ext cx="4754880" cy="8686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RoboTwin：WLA-0 Clean 92.94，Rand. 90.02；−Lwm 下降到 90.98/89.34。
</a:t>
            </a:r>
            <a:r>
              <a:rPr lang="en-US" sz="1050" dirty="0">
                <a:solidFill>
                  <a:srgbClr val="222222"/>
                </a:solidFill>
              </a:rPr>
              <a:t>• 说明 World Expert 的 future-state prediction 对 action representation 有帮助。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355080" y="365760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D66A58"/>
            </a:solidFill>
            <a:prstDash val="solid"/>
          </a:ln>
        </p:spPr>
        <p:txBody>
          <a:bodyPr/>
          <a:p>
            <a:endParaRPr lang="zh-CN" altLang="en-US" sz="2000"/>
          </a:p>
        </p:txBody>
      </p:sp>
      <p:sp>
        <p:nvSpPr>
          <p:cNvPr id="26" name="Text 23"/>
          <p:cNvSpPr/>
          <p:nvPr/>
        </p:nvSpPr>
        <p:spPr>
          <a:xfrm>
            <a:off x="6537960" y="3886200"/>
            <a:ext cx="4617720" cy="8686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LIBERO：WLA-0 Avg. 98.6；TTS = 98.9。
</a:t>
            </a:r>
            <a:r>
              <a:rPr lang="en-US" sz="1050" dirty="0">
                <a:solidFill>
                  <a:srgbClr val="222222"/>
                </a:solidFill>
              </a:rPr>
              <a:t>• TTS 用 6 candidates + imagination horizon 2，在候选动作间做 imagined future value selection。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11480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</a:rPr>
              <a:t>Source: WLA paper, Table 1.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RMBench：语言子任务与 memory 的关键性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长程、记忆依赖任务最能体现 WLA 的 textual intention 价值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12280" y="1143000"/>
            <a:ext cx="4480560" cy="2057400"/>
          </a:xfrm>
          <a:prstGeom prst="roundRect">
            <a:avLst>
              <a:gd name="adj" fmla="val 3556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155448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π0.5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732520" y="1563624"/>
            <a:ext cx="15087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32520" y="1563624"/>
            <a:ext cx="138303" cy="15544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0" y="1536192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5.5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7132320" y="19659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Mem-0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732520" y="1975104"/>
            <a:ext cx="15087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32520" y="1975104"/>
            <a:ext cx="716661" cy="1554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32720" y="1947672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28.5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7132320" y="237744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Fast-WAM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32520" y="2386584"/>
            <a:ext cx="15087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32520" y="2386584"/>
            <a:ext cx="334442" cy="155448"/>
          </a:xfrm>
          <a:prstGeom prst="rect">
            <a:avLst/>
          </a:prstGeom>
          <a:solidFill>
            <a:srgbClr val="D66A58"/>
          </a:solidFill>
          <a:ln w="12700">
            <a:solidFill>
              <a:srgbClr val="D66A5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0" y="2359152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13.3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7132320" y="27889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WLA-0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732520" y="2798064"/>
            <a:ext cx="15087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32520" y="2798064"/>
            <a:ext cx="1420749" cy="15544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332720" y="2770632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56.5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31520" y="35204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0EDFF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3749040"/>
            <a:ext cx="4846320" cy="91440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RMBench 要求 trial-and-error、长期记忆、根据历史判断当前可执行 subtask。
</a:t>
            </a:r>
            <a:r>
              <a:rPr lang="en-US" sz="1050" dirty="0">
                <a:solidFill>
                  <a:srgbClr val="222222"/>
                </a:solidFill>
              </a:rPr>
              <a:t>• WLA-0 每步重新预测 textual subtask，并把 subtask history 作为 memory trace。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09360" y="352044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BEDEA"/>
          </a:solidFill>
          <a:ln w="12700">
            <a:solidFill>
              <a:srgbClr val="D66A5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3749040"/>
            <a:ext cx="4617720" cy="91440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去掉 Llang：平均 56.5 → 17.3。
</a:t>
            </a:r>
            <a:r>
              <a:rPr lang="en-US" sz="1050" dirty="0">
                <a:solidFill>
                  <a:srgbClr val="222222"/>
                </a:solidFill>
              </a:rPr>
              <a:t>• 说明 long-horizon 能力主要来自 language-level progress tracking，而不是纯动作拟合。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1480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</a:rPr>
              <a:t>Source: WLA paper, Table 2 and Appendix B.3.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真实机器人：性能与推理效率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WLA-0 在小规模真实数据上训练，低延迟优势在动态任务中突出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15</a:t>
            </a:r>
            <a:endParaRPr lang="en-US" sz="800" dirty="0"/>
          </a:p>
        </p:txBody>
      </p:sp>
      <p:pic>
        <p:nvPicPr>
          <p:cNvPr id="8" name="Image 0" descr="/mnt/data/wla_assets/fig3_r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2376"/>
            <a:ext cx="5943600" cy="32902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720" y="114300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1389888"/>
            <a:ext cx="4160520" cy="8229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• 平台：AgilexRobotics Piper 双臂。
</a:t>
            </a:r>
            <a:r>
              <a:rPr lang="en-US" sz="1050" dirty="0">
                <a:solidFill>
                  <a:srgbClr val="222222"/>
                </a:solidFill>
              </a:rPr>
              <a:t>• 任务：Unscrew Cap / Pack Object / Stack Cup / Dispose Trash。
</a:t>
            </a:r>
            <a:r>
              <a:rPr lang="en-US" sz="1050" dirty="0">
                <a:solidFill>
                  <a:srgbClr val="222222"/>
                </a:solidFill>
              </a:rPr>
              <a:t>• 每任务 60 demonstrations，评估 standard / OOD object / OOD scenario。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03720" y="2880360"/>
            <a:ext cx="4526280" cy="1783080"/>
          </a:xfrm>
          <a:prstGeom prst="roundRect">
            <a:avLst>
              <a:gd name="adj" fmla="val 4103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3090672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Stack Cup 效率对比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35387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WLA-0 latency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778240" y="3547872"/>
            <a:ext cx="160020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0" y="3547872"/>
            <a:ext cx="37705" cy="15544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69880" y="352044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37.7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178040" y="3877056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π0.5 latency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778240" y="3886200"/>
            <a:ext cx="160020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0" y="3886200"/>
            <a:ext cx="190124" cy="1554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69880" y="3858768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190.1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7178040" y="420624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Motus latency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778240" y="4215384"/>
            <a:ext cx="160020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0" y="4215384"/>
            <a:ext cx="1529991" cy="155448"/>
          </a:xfrm>
          <a:prstGeom prst="rect">
            <a:avLst/>
          </a:prstGeom>
          <a:solidFill>
            <a:srgbClr val="D66A58"/>
          </a:solidFill>
          <a:ln w="12700">
            <a:solidFill>
              <a:srgbClr val="D66A5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69880" y="4187952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1529.8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Dispose Trash 中，低延迟 + 历史上下文有助于跟踪旋转垃圾桶；Motus 高延迟容易跟丢，π0.5 缺少 history conditioning。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11480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</a:rPr>
              <a:t>Source: WLA paper, Fig. 3 and Table 5.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action-free robot video 学新任务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无动作视频不能直接监督 action，但可通过 Lwm 学任务状态转移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16</a:t>
            </a:r>
            <a:endParaRPr lang="en-US" sz="800" dirty="0"/>
          </a:p>
        </p:txBody>
      </p:sp>
      <p:pic>
        <p:nvPicPr>
          <p:cNvPr id="8" name="Image 0" descr="/mnt/data/wla_assets/table3_vide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1444625"/>
            <a:ext cx="6139180" cy="2256790"/>
          </a:xfrm>
          <a:prstGeom prst="rect">
            <a:avLst/>
          </a:prstGeom>
        </p:spPr>
      </p:pic>
      <p:pic>
        <p:nvPicPr>
          <p:cNvPr id="9" name="Image 1" descr="/mnt/data/wla_assets/fig4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3924300"/>
            <a:ext cx="5400675" cy="20415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123444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0" y="1444752"/>
            <a:ext cx="4206240" cy="8229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实验：RoboTwin 50 tasks → 45 seen + 5 unseen。
• seen tasks 有 action supervision；unseen tasks 只加入 video supervision。
• same-emb. video 与 cross-emb. video 都能提升 unseen task 成功率。</a:t>
            </a:r>
            <a:endParaRPr lang="en-US" sz="1400" dirty="0">
              <a:solidFill>
                <a:srgbClr val="222222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675120" y="292608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0" y="3127248"/>
            <a:ext cx="4206240" cy="7772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Seen-Action baseline 平均 13.0 / 11.6。
• +Unseen Same-Emb. Video → 34.4 / 30.0。
• +Unseen Cross-Emb. Video → 28.8 / 27.4。</a:t>
            </a:r>
            <a:endParaRPr lang="en-US" sz="1400" dirty="0">
              <a:solidFill>
                <a:srgbClr val="222222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675120" y="45720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BEDEA"/>
          </a:solidFill>
          <a:ln w="12700">
            <a:solidFill>
              <a:srgbClr val="D66A5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0" y="4754880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关键机制：video-only 数据主要通过 World Expert / Lwm 监督 hₜ 学到 unseen task 的状态转移，再迁移到 Action Expert。</a:t>
            </a:r>
            <a:endParaRPr lang="en-US" sz="1400" b="1" dirty="0">
              <a:solidFill>
                <a:srgbClr val="D66A58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</a:rPr>
              <a:t>Source: WLA paper, Table 3 and Fig. 4.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关键消融：哪些设计真正起作用？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Lwm、Llang、single-frame prediction 三个结论最重要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B8E"/>
                </a:solidFill>
              </a:rPr>
              <a:t>World Expert Loss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WLA-0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1947672"/>
            <a:ext cx="5943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947672"/>
            <a:ext cx="552398" cy="15544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2024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92.94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960120" y="235000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−Lwm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2359152"/>
            <a:ext cx="5943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359152"/>
            <a:ext cx="540749" cy="155448"/>
          </a:xfrm>
          <a:prstGeom prst="rect">
            <a:avLst/>
          </a:prstGeom>
          <a:solidFill>
            <a:srgbClr val="D66A58"/>
          </a:solidFill>
          <a:ln w="12700">
            <a:solidFill>
              <a:srgbClr val="D66A5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33172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90.98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960120" y="2971800"/>
            <a:ext cx="27432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</a:rPr>
              <a:t>RoboTwin Clean：未来状态监督带来约 2pt 提升。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11430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0EDFF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41732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5ACD"/>
                </a:solidFill>
              </a:rPr>
              <a:t>Subtask Loss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938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WLA-0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947672"/>
            <a:ext cx="5943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947672"/>
            <a:ext cx="559689" cy="155448"/>
          </a:xfrm>
          <a:prstGeom prst="rect">
            <a:avLst/>
          </a:prstGeom>
          <a:solidFill>
            <a:srgbClr val="6A5ACD"/>
          </a:solidFill>
          <a:ln w="12700">
            <a:solidFill>
              <a:srgbClr val="6A5AC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92024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56.5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709160" y="235000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−Llang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2359152"/>
            <a:ext cx="5943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359152"/>
            <a:ext cx="171374" cy="155448"/>
          </a:xfrm>
          <a:prstGeom prst="rect">
            <a:avLst/>
          </a:prstGeom>
          <a:solidFill>
            <a:srgbClr val="D66A58"/>
          </a:solidFill>
          <a:ln w="12700">
            <a:solidFill>
              <a:srgbClr val="D66A5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33172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17.3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709160" y="2971800"/>
            <a:ext cx="27432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</a:rPr>
              <a:t>RMBench：语言子任务监督是长程记忆能力的核心。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83880" y="11430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BEDEA"/>
          </a:solidFill>
          <a:ln w="12700">
            <a:solidFill>
              <a:srgbClr val="D66A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141732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6A58"/>
                </a:solidFill>
              </a:rPr>
              <a:t>Single vs Multi-frame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1938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single-frame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058400" y="1947672"/>
            <a:ext cx="5943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0" y="1947672"/>
            <a:ext cx="583662" cy="15544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4200" y="192024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98.2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458200" y="235000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</a:rPr>
              <a:t>multi-frame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058400" y="2359152"/>
            <a:ext cx="594360" cy="155448"/>
          </a:xfrm>
          <a:prstGeom prst="rect">
            <a:avLst/>
          </a:prstGeom>
          <a:solidFill>
            <a:srgbClr val="E9EEF3"/>
          </a:solidFill>
          <a:ln w="12700">
            <a:solidFill>
              <a:srgbClr val="E9EEF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0" y="2359152"/>
            <a:ext cx="559887" cy="155448"/>
          </a:xfrm>
          <a:prstGeom prst="rect">
            <a:avLst/>
          </a:prstGeom>
          <a:solidFill>
            <a:srgbClr val="D66A58"/>
          </a:solidFill>
          <a:ln w="12700">
            <a:solidFill>
              <a:srgbClr val="D66A5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2331720"/>
            <a:ext cx="411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222222"/>
                </a:solidFill>
              </a:rPr>
              <a:t>94.2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458200" y="2971800"/>
            <a:ext cx="27432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</a:rPr>
              <a:t>LIBERO：过密视觉监督可能拖慢收敛并干扰 action learning。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999999"/>
                </a:solidFill>
              </a:rPr>
              <a:t>Source: WLA paper, Tables 1–4.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与现有 WAM 的区别：DreamZero / Fast-WAM / WLA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WLA 更强调语言子任务与 latent dynamics，而不是测试时完整 future imagination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16152"/>
            <a:ext cx="122529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维度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1430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1216152"/>
            <a:ext cx="277977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DreamZero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1430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216152"/>
            <a:ext cx="277977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Fast-WAM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14300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1216152"/>
            <a:ext cx="305409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WLA-0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645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" y="1719072"/>
            <a:ext cx="12618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主干范式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1828800" y="16459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1719072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Video/action joint WAM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多步/少步 video-action denoise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800600" y="16459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1719072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训练保留 joint WAM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推理去掉未来视频生成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7772400" y="164592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9F6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1719072"/>
            <a:ext cx="30906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AR Transformer + Experts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textual intention + hₜ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11480" y="2395728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468880"/>
            <a:ext cx="12618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语言/规划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828800" y="2395728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83664" y="2468880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以 instruction condition 为主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800600" y="2395728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2468880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以 instruction condition 为主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7772400" y="2395728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9F6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2468880"/>
            <a:ext cx="30906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显式预测 sub-task window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并维护 memory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411480" y="3145536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3218688"/>
            <a:ext cx="12618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世界模型作用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1828800" y="3145536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83664" y="3218688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显式未来 video/action 建模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可用于 zero-shot policy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4800600" y="3145536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3218688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训练中有世界建模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推理走 fast action path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7772400" y="3145536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9F6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27264" y="3218688"/>
            <a:ext cx="30906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训练时塑造 hₜ；TTS 时可选开启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411480" y="3895344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" y="3968496"/>
            <a:ext cx="12618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推理代价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1828800" y="3895344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83664" y="3968496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显式生成/维护未来 latent 较重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4800600" y="3895344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3968496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减少 test-time imagination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7772400" y="3895344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9F6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27264" y="3968496"/>
            <a:ext cx="30906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Efficient mode 约 40ms；TTS 可选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411480" y="4645152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" y="4718304"/>
            <a:ext cx="12618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关键亮点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1828800" y="4645152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83664" y="4718304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世界动作联合建模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4800600" y="4645152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4718304"/>
            <a:ext cx="281635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22222"/>
                </a:solidFill>
              </a:rPr>
              <a:t>验证未来想象不一定推理必需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7772400" y="4645152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9F6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27264" y="4718304"/>
            <a:ext cx="3090672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7324D"/>
                </a:solidFill>
              </a:rPr>
              <a:t>语言进度追踪 + world regularization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6A58"/>
                </a:solidFill>
              </a:rPr>
              <a:t>WLA 的主要差异：它不是把 WAM 做得更大，而是把“当前应该做什么”显式变成语言状态，并让 world prediction 成为训练时 representation shaping。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 Insight：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49808"/>
            <a:ext cx="10515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不只是一个新模型，而是对 WAM / VLA 设计取舍的几个判断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8A"/>
                </a:solidFill>
              </a:rPr>
              <a:t>WLA-0 组会汇报 | World-Language-Action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10561320" cy="713232"/>
          </a:xfrm>
          <a:prstGeom prst="roundRect">
            <a:avLst>
              <a:gd name="adj" fmla="val 10256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3444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1. Next state 应该语义化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1216152"/>
            <a:ext cx="6903720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22222"/>
                </a:solidFill>
              </a:rPr>
              <a:t>未来不必只是一张图；sub-task 是更紧凑的未来状态抽象。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22960" y="2039112"/>
            <a:ext cx="10561320" cy="713232"/>
          </a:xfrm>
          <a:prstGeom prst="roundRect">
            <a:avLst>
              <a:gd name="adj" fmla="val 10256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7627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2. World modeling 可以是训练监督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2157984"/>
            <a:ext cx="6903720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22222"/>
                </a:solidFill>
              </a:rPr>
              <a:t>World Expert 默认不参与推理，但通过 Lwm 让 hₜ 学物理动态。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2960" y="2980944"/>
            <a:ext cx="10561320" cy="713232"/>
          </a:xfrm>
          <a:prstGeom prst="roundRect">
            <a:avLst>
              <a:gd name="adj" fmla="val 10256"/>
            </a:avLst>
          </a:prstGeom>
          <a:solidFill>
            <a:srgbClr val="E9F6F3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1810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3. 长程任务的难点是 progress tracking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3099816"/>
            <a:ext cx="6903720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22222"/>
                </a:solidFill>
              </a:rPr>
              <a:t>RMBench 中 −Llang 大幅下降，说明子任务记忆比纯视觉动作更关键。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2960" y="3922776"/>
            <a:ext cx="10561320" cy="713232"/>
          </a:xfrm>
          <a:prstGeom prst="roundRect">
            <a:avLst>
              <a:gd name="adj" fmla="val 10256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5993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sym typeface="+mn-ea"/>
              </a:rPr>
              <a:t>5. 无动作机器人视频有潜力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4041648"/>
            <a:ext cx="6903720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22222"/>
                </a:solidFill>
                <a:sym typeface="+mn-ea"/>
              </a:rPr>
              <a:t>unseen robot video 可提供新任务状态转移，但 human ego video 存在 domain gap。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7931</Words>
  <Application>WPS 演示</Application>
  <PresentationFormat>On-screen Show (16:9)</PresentationFormat>
  <Paragraphs>578</Paragraphs>
  <Slides>19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World-Language-Action Model 汇报</dc:title>
  <dc:creator>OpenAI</dc:creator>
  <dc:subject>WLA-0 group meeting presentation</dc:subject>
  <cp:lastModifiedBy>191----3441</cp:lastModifiedBy>
  <cp:revision>2</cp:revision>
  <dcterms:created xsi:type="dcterms:W3CDTF">2026-06-08T05:41:00Z</dcterms:created>
  <dcterms:modified xsi:type="dcterms:W3CDTF">2026-06-08T06:37:36Z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99CCE9AFF77B4CE3845FAB946114F482_12</vt:lpwstr>
  </property>
</Properties>
</file>