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9" r:id="rId9"/>
    <p:sldId id="270" r:id="rId10"/>
    <p:sldId id="263" r:id="rId11"/>
    <p:sldId id="264" r:id="rId12"/>
    <p:sldId id="265" r:id="rId13"/>
  </p:sldIdLst>
  <p:sldSz cx="9144000" cy="5148263"/>
  <p:notesSz cx="5148263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766" autoAdjust="0"/>
  </p:normalViewPr>
  <p:slideViewPr>
    <p:cSldViewPr snapToGrid="0" snapToObjects="1">
      <p:cViewPr>
        <p:scale>
          <a:sx n="100" d="100"/>
          <a:sy n="100" d="100"/>
        </p:scale>
        <p:origin x="84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5935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Groot</a:t>
            </a:r>
            <a:r>
              <a:rPr lang="zh-CN" altLang="en-US" dirty="0"/>
              <a:t>是英伟达的</a:t>
            </a:r>
            <a:r>
              <a:rPr lang="en-US" altLang="zh-CN" dirty="0" err="1"/>
              <a:t>vla</a:t>
            </a:r>
            <a:r>
              <a:rPr lang="zh-CN" altLang="en-US" dirty="0"/>
              <a:t>模型，其中</a:t>
            </a:r>
            <a:r>
              <a:rPr lang="en-US" altLang="zh-CN" dirty="0"/>
              <a:t>N1</a:t>
            </a:r>
            <a:r>
              <a:rPr lang="zh-CN" altLang="en-US" dirty="0"/>
              <a:t>是第一个版本，现在更新到</a:t>
            </a:r>
            <a:r>
              <a:rPr lang="en-US" altLang="zh-CN" dirty="0"/>
              <a:t>N1.7</a:t>
            </a:r>
            <a:r>
              <a:rPr lang="zh-CN" altLang="en-US" dirty="0"/>
              <a:t>了。由于</a:t>
            </a:r>
            <a:r>
              <a:rPr lang="en-US" altLang="zh-CN" dirty="0"/>
              <a:t>N1</a:t>
            </a:r>
            <a:r>
              <a:rPr lang="zh-CN" altLang="en-US" dirty="0"/>
              <a:t>之后都没有专门的论文介绍，细节比较少，所以这次</a:t>
            </a:r>
            <a:r>
              <a:rPr lang="en-US" altLang="zh-CN" dirty="0"/>
              <a:t>paper reading,</a:t>
            </a:r>
            <a:r>
              <a:rPr lang="zh-CN" altLang="en-US" dirty="0"/>
              <a:t>我想主要和大家介绍一下</a:t>
            </a:r>
            <a:r>
              <a:rPr lang="en-US" altLang="zh-CN" dirty="0"/>
              <a:t>N1</a:t>
            </a:r>
            <a:r>
              <a:rPr lang="zh-CN" altLang="en-US" dirty="0"/>
              <a:t>的模型架构，已经后续版本的更新。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N1 learns a latent‑action codebook and trains an inverse dynamics model (IDM) to infer pseudo‑actions, enabling annotation of action‑less videos and treatment of human videos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7F64D-FCAB-608D-764E-C52E808D8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F031A-5A08-F010-1BE9-CC3D50CE2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99B66-68D0-F443-9303-1873C2541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05DA4-9BA2-EA8B-3C58-FB5AA639FF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22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7EAF9-7224-5FD0-67E6-0555F9DAF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6B7B8-E072-E09F-3B8B-A9FB0955C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080BE-CB4B-C3F4-103F-0F0FF8F98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 support multiple robot embodiments (e.g., single‑arm, bimanual, humanoid), state and action encoders project proprioceptive observations and actions into a shared latent space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38E4F-EB1B-E5C5-8F0E-0617CD9010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18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CD728-F950-780D-048B-16DF914FD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C5E5D-FFEC-D437-49DE-5837A028A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2860F-71E9-74B7-2D5A-CD3F38280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6A37D-7F50-7881-C324-CB68709C43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804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F62B2-03E9-7F24-7532-4B2A32818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AEF22-0E49-558D-7336-937FD5E59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D66AA-088E-E333-AEBC-80029D1F4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机器人自身状态空间里的相对增量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90716-792C-631A-AD1F-DED9C50DE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647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30648-3D20-A4BB-08EA-FCEAB805F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2F889-5E6B-60F0-76E4-66B3FB268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E957C-D807-820C-F4DE-255490544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N1.6 </a:t>
            </a:r>
            <a:r>
              <a:rPr lang="zh-CN" altLang="en-US" dirty="0"/>
              <a:t>的“</a:t>
            </a:r>
            <a:r>
              <a:rPr lang="en-US" altLang="zh-CN" dirty="0"/>
              <a:t>relative action”</a:t>
            </a:r>
            <a:r>
              <a:rPr lang="zh-CN" altLang="en-US" dirty="0"/>
              <a:t>更多是“机器人自身状态空间里的相对增量（</a:t>
            </a:r>
            <a:r>
              <a:rPr lang="en-US" altLang="zh-CN" dirty="0"/>
              <a:t>state-relative</a:t>
            </a:r>
            <a:r>
              <a:rPr lang="zh-CN" altLang="en-US" dirty="0"/>
              <a:t>）”，而 </a:t>
            </a:r>
            <a:r>
              <a:rPr lang="en-US" altLang="zh-CN" dirty="0"/>
              <a:t>N1.7 </a:t>
            </a:r>
            <a:r>
              <a:rPr lang="zh-CN" altLang="en-US" dirty="0"/>
              <a:t>的“</a:t>
            </a:r>
            <a:r>
              <a:rPr lang="en-US" altLang="zh-CN" dirty="0"/>
              <a:t>relative EEF action space”</a:t>
            </a:r>
            <a:r>
              <a:rPr lang="zh-CN" altLang="en-US" dirty="0"/>
              <a:t>是“统一到任务</a:t>
            </a:r>
            <a:r>
              <a:rPr lang="en-US" altLang="zh-CN" dirty="0"/>
              <a:t>/</a:t>
            </a:r>
            <a:r>
              <a:rPr lang="zh-CN" altLang="en-US" dirty="0"/>
              <a:t>操作语义层的末端执行器（</a:t>
            </a:r>
            <a:r>
              <a:rPr lang="en-US" altLang="zh-CN" dirty="0"/>
              <a:t>EEF</a:t>
            </a:r>
            <a:r>
              <a:rPr lang="zh-CN" altLang="en-US" dirty="0"/>
              <a:t>）相对运动空间，目标是跨机器人 </a:t>
            </a:r>
            <a:r>
              <a:rPr lang="en-US" altLang="zh-CN" dirty="0"/>
              <a:t>+ </a:t>
            </a:r>
            <a:r>
              <a:rPr lang="zh-CN" altLang="en-US" dirty="0"/>
              <a:t>跨人类数据统一。人类视频终于可以直接成为机器人 </a:t>
            </a:r>
            <a:r>
              <a:rPr lang="en-US" altLang="zh-CN" dirty="0"/>
              <a:t>action pretraining </a:t>
            </a:r>
            <a:r>
              <a:rPr lang="zh-CN" altLang="en-US" dirty="0"/>
              <a:t>数据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C896F-CB4B-AE64-7E42-0F703A9077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42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file:///\\home\oai\redirect.html#:~:text=1,EEF%20for%20your%20own%20robot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research.nvidia.com/labs/gear/gr00t-n1_6/#:~:text=We%20introduce%20GR00T%20N1,training%20performance%20compared%20to%20N1.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2503.14734#:~:text=%3E%20Abstract%3AGeneral,performance%20with%20high%20data%20efficiency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hyperlink" Target="https://huggingface.co/blog/nvidia/gr00t-n1-7#:~:text=We%20are%20releasing%20NVIDIA%20Isaac,scalable%20source%20of%20robot%20intelligenc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3.14734#:~:text=%3E%20Abstract%3AGeneral,performance%20with%20high%20data%20efficienc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https://huggingface.co/blog/nvidia/gr00t-n1-7#:~:text=Training%20on%20Human%20EgoCentric%20Video,Dat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3.14734#:~:text=%3E%20Abstract%3AGeneral,performance%20with%20high%20data%20efficienc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d1qx31qr3h6wln.cloudfront.net/publications/GR00T_1_Whitepaper.pdf#:~:text=We%20highlight%20three%20key%20features,traini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3.14734#:~:text=%3E%20Abstract%3AGeneral,performance%20with%20high%20data%20efficienc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hyperlink" Target="d1qx31qr3h6wln.cloudfront.net/publications/GR00T_1_Whitepaper.pdf#:~:text=We%20highlight%20three%20key%20features,traini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3.14734#:~:text=%3E%20Abstract%3AGeneral,performance%20with%20high%20data%20efficienc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d1qx31qr3h6wln.cloudfront.net/publications/GR00T_1_Whitepaper.pdf#:~:text=We%20highlight%20three%20key%20features,trainin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3.14734#:~:text=%3E%20Abstract%3AGeneral,performance%20with%20high%20data%20efficiency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hyperlink" Target="d1qx31qr3h6wln.cloudfront.net/publications/GR00T_1_Whitepaper.pdf#:~:text=We%20highlight%20three%20key%20features,traini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3.14734#:~:text=%3E%20Abstract%3AGeneral,performance%20with%20high%20data%20efficienc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d1qx31qr3h6wln.cloudfront.net/publications/GR00T_1_Whitepaper.pdf#:~:text=We%20highlight%20three%20key%20features,trainin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3.14734#:~:text=%3E%20Abstract%3AGeneral,performance%20with%20high%20data%20efficienc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file:///\\home\oai\redirect.html#:~:text=1,EEF%20for%20your%20own%20robot" TargetMode="External"/><Relationship Id="rId4" Type="http://schemas.openxmlformats.org/officeDocument/2006/relationships/hyperlink" Target="https://research.nvidia.com/labs/gear/gr00t-n1_6/#:~:text=We%20introduce%20GR00T%20N1,training%20performance%20compared%20to%20N1.5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blog/nvidia/gr00t-n1-7#:~:text=Validated%20across%20loco,YAM%2C%20and%20AGIBot%20Genie%201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arxiv.org/abs/2503.14734#:~:text=model%20GR00T%20N1%20outperforms%20the,strong%20performance%20with%20high%20data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hyperlink" Target="https://www.robotics247.com/article/nvidia-gtc-2026-nvidia-global-robotics-leaders-look-to-take-physical-ai-to-the-real-world#:~:text=AGIBOT%2C%20Humanoid%2C%20LG%20Electronics%2C%20NEURA,ready%20robot%20deployment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robotics247.com/article/nvidia-gtc-2026-nvidia-global-robotics-leaders-look-to-take-physical-ai-to-the-real-world#:~:text=During%20his%20GTC%20keynote%2C%20Huang,as%20often%20as%20leading%20vision" TargetMode="External"/><Relationship Id="rId4" Type="http://schemas.openxmlformats.org/officeDocument/2006/relationships/hyperlink" Target="https://huggingface.co/blog/nvidia/gr00t-n1-7#:~:text=Training%20on%20Human%20EgoCentric%20Video,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2A44">
              <a:alpha val="50000"/>
            </a:srgbClr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Evolution of NVIDIA GR00T</a:t>
            </a:r>
            <a:endParaRPr lang="en-US" sz="36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</a:rPr>
              <a:t>Foundation Models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DE3EC"/>
                </a:solidFill>
              </a:rPr>
              <a:t>From N1 to N1.7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DE3EC"/>
                </a:solidFill>
              </a:rPr>
              <a:t>Company Paper Reading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DE3EC"/>
                </a:solidFill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472C4"/>
                </a:solidFill>
              </a:rPr>
              <a:t>Executive Summary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</a:rPr>
              <a:t>Vision–Language–Action (VLA) foundation
</a:t>
            </a:r>
            <a:r>
              <a:rPr lang="en-US" sz="1100" dirty="0">
                <a:solidFill>
                  <a:srgbClr val="1F2A44"/>
                </a:solidFill>
              </a:rPr>
              <a:t>Dual system model couples perception, language understanding and action generation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694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1869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</a:rPr>
              <a:t>From N1 to N1.7
</a:t>
            </a:r>
            <a:r>
              <a:rPr lang="en-US" sz="1100" dirty="0">
                <a:solidFill>
                  <a:srgbClr val="1F2A44"/>
                </a:solidFill>
              </a:rPr>
              <a:t>Better VLM backbones and deeper diffusion transformers improve reasoning and motion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9748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2296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</a:rPr>
              <a:t>Human data matters
</a:t>
            </a:r>
            <a:r>
              <a:rPr lang="en-US" sz="1100" dirty="0">
                <a:solidFill>
                  <a:srgbClr val="1F2A44"/>
                </a:solidFill>
              </a:rPr>
              <a:t>20k hours of human egocentric videos yield a dexterity scaling law for hands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472C4"/>
                </a:solidFill>
                <a:hlinkClick r:id="rId6"/>
              </a:rPr>
              <a:t>[1]</a:t>
            </a:r>
            <a:r>
              <a:rPr lang="en-US" sz="700" u="sng" dirty="0">
                <a:solidFill>
                  <a:srgbClr val="4472C4"/>
                </a:solidFill>
              </a:rPr>
              <a:t>  </a:t>
            </a:r>
            <a:r>
              <a:rPr lang="en-US" sz="700" u="sng" dirty="0">
                <a:solidFill>
                  <a:srgbClr val="4472C4"/>
                </a:solidFill>
                <a:hlinkClick r:id="rId7"/>
              </a:rPr>
              <a:t>[2]</a:t>
            </a:r>
            <a:r>
              <a:rPr lang="en-US" sz="700" u="sng" dirty="0">
                <a:solidFill>
                  <a:srgbClr val="4472C4"/>
                </a:solidFill>
              </a:rPr>
              <a:t>  </a:t>
            </a:r>
            <a:r>
              <a:rPr lang="en-US" sz="700" u="sng" dirty="0">
                <a:solidFill>
                  <a:srgbClr val="4472C4"/>
                </a:solidFill>
                <a:hlinkClick r:id="rId8"/>
              </a:rPr>
              <a:t>[3]</a:t>
            </a:r>
            <a:r>
              <a:rPr lang="en-US" sz="700" u="sng" dirty="0">
                <a:solidFill>
                  <a:srgbClr val="4472C4"/>
                </a:solidFill>
              </a:rPr>
              <a:t>  </a:t>
            </a:r>
            <a:r>
              <a:rPr lang="en-US" sz="700" u="sng" dirty="0">
                <a:solidFill>
                  <a:srgbClr val="4472C4"/>
                </a:solidFill>
                <a:hlinkClick r:id="rId9"/>
              </a:rPr>
              <a:t>[4]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472C4"/>
                </a:solidFill>
              </a:rPr>
              <a:t>Background &amp; Motivation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7400" y="1051560"/>
            <a:ext cx="4317440" cy="2720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</a:rPr>
              <a:t>• General-purpose robots require a versatile body and an intelligent mind that can interpret images, language and proprioception.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</a:rPr>
              <a:t>
• Traditional imitation learning struggles with variability; foundation models trained on </a:t>
            </a:r>
            <a:r>
              <a:rPr lang="en-US" sz="1400" b="1" dirty="0">
                <a:solidFill>
                  <a:srgbClr val="1F2A44"/>
                </a:solidFill>
              </a:rPr>
              <a:t>diverse data</a:t>
            </a:r>
            <a:r>
              <a:rPr lang="en-US" sz="1400" dirty="0">
                <a:solidFill>
                  <a:srgbClr val="1F2A44"/>
                </a:solidFill>
              </a:rPr>
              <a:t> enable transfer to new tasks and embodiments.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</a:rPr>
              <a:t>
• GR00T N-series uses a </a:t>
            </a:r>
            <a:r>
              <a:rPr lang="en-US" sz="1400" b="1" dirty="0">
                <a:solidFill>
                  <a:srgbClr val="1F2A44"/>
                </a:solidFill>
              </a:rPr>
              <a:t>dual-system Vision–Language–Action </a:t>
            </a:r>
            <a:r>
              <a:rPr lang="en-US" sz="1400" dirty="0">
                <a:solidFill>
                  <a:srgbClr val="1F2A44"/>
                </a:solidFill>
              </a:rPr>
              <a:t>architecture to marry high-level reasoning with low-level motor control.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92240" y="10058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Human egocentric video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Rich manipulation priors for hands and objects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92240" y="1920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Dexterity scaling law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More human data → better dexterous skills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472C4"/>
                </a:solidFill>
                <a:hlinkClick r:id="rId3"/>
              </a:rPr>
              <a:t>[5]</a:t>
            </a:r>
            <a:r>
              <a:rPr lang="en-US" sz="700" u="sng" dirty="0">
                <a:solidFill>
                  <a:srgbClr val="4472C4"/>
                </a:solidFill>
              </a:rPr>
              <a:t>  </a:t>
            </a:r>
            <a:r>
              <a:rPr lang="en-US" sz="700" u="sng" dirty="0">
                <a:solidFill>
                  <a:srgbClr val="4472C4"/>
                </a:solidFill>
                <a:hlinkClick r:id="rId4"/>
              </a:rPr>
              <a:t>[6]</a:t>
            </a:r>
            <a:endParaRPr lang="en-US" sz="7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328DD08-C044-E1C2-A1B1-82560AA98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719" y="1203909"/>
            <a:ext cx="3976521" cy="25679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99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472C4"/>
                </a:solidFill>
              </a:rPr>
              <a:t>GR00T N1: Architecture &amp; Training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814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681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 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(VLM)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Vision &amp; language tokens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0" y="2092960"/>
            <a:ext cx="914400" cy="274320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0" y="16814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0" y="1681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 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(DiT)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Action generation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28600" y="1426051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</a:rPr>
              <a:t>Dual system: a vision–language module interprets images and commands; a diffusion transformer </a:t>
            </a:r>
            <a:r>
              <a:rPr lang="en-US" sz="1200" dirty="0" err="1">
                <a:solidFill>
                  <a:srgbClr val="1F2A44"/>
                </a:solidFill>
              </a:rPr>
              <a:t>synthesises</a:t>
            </a:r>
            <a:r>
              <a:rPr lang="en-US" sz="1200" dirty="0">
                <a:solidFill>
                  <a:srgbClr val="1F2A44"/>
                </a:solidFill>
              </a:rPr>
              <a:t> smooth trajectories in real time.</a:t>
            </a:r>
          </a:p>
          <a:p>
            <a:pPr marL="0" indent="0">
              <a:buNone/>
            </a:pPr>
            <a:endParaRPr lang="en-US" sz="1200" dirty="0">
              <a:solidFill>
                <a:srgbClr val="1F2A44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F2A44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F2A44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F2A44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F2A44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F2A44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F2A44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</a:rPr>
              <a:t>
Training data mixture: real robot trajectories, human videos and synthetic simulations yield strong generalisation.</a:t>
            </a:r>
            <a:endParaRPr lang="en-US" sz="12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3826095-3126-51C6-BA03-115F8FB5B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960" y="3234625"/>
            <a:ext cx="2796689" cy="18060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4556A-2BD9-1659-55E6-F4CFB3D4B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FB3A3C-21AF-ADA1-EA71-0CFA944091F0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472C4"/>
                </a:solidFill>
              </a:rPr>
              <a:t>GR00T N1: Architecture &amp; Training</a:t>
            </a:r>
            <a:endParaRPr lang="en-US" sz="26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5ED1F91-BB8E-3DDD-4642-CF51DBC020B7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472C4"/>
                </a:solidFill>
                <a:hlinkClick r:id="rId3"/>
              </a:rPr>
              <a:t>[7]</a:t>
            </a:r>
            <a:r>
              <a:rPr lang="en-US" sz="700" u="sng" dirty="0">
                <a:solidFill>
                  <a:srgbClr val="4472C4"/>
                </a:solidFill>
              </a:rPr>
              <a:t>  </a:t>
            </a:r>
            <a:r>
              <a:rPr lang="en-US" sz="700" u="sng" dirty="0">
                <a:solidFill>
                  <a:srgbClr val="4472C4"/>
                </a:solidFill>
                <a:hlinkClick r:id="rId4"/>
              </a:rPr>
              <a:t>[8]</a:t>
            </a:r>
            <a:endParaRPr lang="en-US" sz="7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73D7A20-59B2-F30F-860F-F7D17F3CD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169" y="893262"/>
            <a:ext cx="7420453" cy="392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41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BE288-06D2-FC62-5F03-E3B194A0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9B2AA09-1C4A-AEA4-3CCF-AAAD7DB83864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472C4"/>
                </a:solidFill>
              </a:rPr>
              <a:t>GR00T N1: Architecture &amp; Training</a:t>
            </a:r>
            <a:endParaRPr lang="en-US" sz="26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A7649C4-77CB-7444-B58A-8A27D3B01827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472C4"/>
                </a:solidFill>
                <a:hlinkClick r:id="rId3"/>
              </a:rPr>
              <a:t>[7]</a:t>
            </a:r>
            <a:r>
              <a:rPr lang="en-US" sz="700" u="sng" dirty="0">
                <a:solidFill>
                  <a:srgbClr val="4472C4"/>
                </a:solidFill>
              </a:rPr>
              <a:t>  </a:t>
            </a:r>
            <a:r>
              <a:rPr lang="en-US" sz="700" u="sng" dirty="0">
                <a:solidFill>
                  <a:srgbClr val="4472C4"/>
                </a:solidFill>
                <a:hlinkClick r:id="rId4"/>
              </a:rPr>
              <a:t>[8]</a:t>
            </a:r>
            <a:endParaRPr lang="en-US" sz="7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CD6FF7D-D49A-CE62-CCE5-9555F8990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15" y="828771"/>
            <a:ext cx="7686185" cy="406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444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8A2E4-3FDE-F0B8-6C22-8A8850C87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EBCB62-1D00-B437-B12B-49E1C52E7AC7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472C4"/>
                </a:solidFill>
              </a:rPr>
              <a:t>GR00T N1  </a:t>
            </a:r>
            <a:r>
              <a:rPr lang="en-US" sz="2600" b="1" dirty="0">
                <a:solidFill>
                  <a:srgbClr val="4472C4"/>
                </a:solidFill>
                <a:sym typeface="Wingdings" panose="05000000000000000000" pitchFamily="2" charset="2"/>
              </a:rPr>
              <a:t>   GR00T N1.5</a:t>
            </a:r>
            <a:endParaRPr lang="en-US" sz="26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360C64F-28AA-B6B2-362E-0E4CEDDC6B16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472C4"/>
                </a:solidFill>
                <a:hlinkClick r:id="rId3"/>
              </a:rPr>
              <a:t>[7]</a:t>
            </a:r>
            <a:r>
              <a:rPr lang="en-US" sz="700" u="sng" dirty="0">
                <a:solidFill>
                  <a:srgbClr val="4472C4"/>
                </a:solidFill>
              </a:rPr>
              <a:t>  </a:t>
            </a:r>
            <a:r>
              <a:rPr lang="en-US" sz="700" u="sng" dirty="0">
                <a:solidFill>
                  <a:srgbClr val="4472C4"/>
                </a:solidFill>
                <a:hlinkClick r:id="rId4"/>
              </a:rPr>
              <a:t>[8]</a:t>
            </a:r>
            <a:endParaRPr lang="en-US" sz="7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71F662C-53B9-2423-222D-50A7936D2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367233"/>
              </p:ext>
            </p:extLst>
          </p:nvPr>
        </p:nvGraphicFramePr>
        <p:xfrm>
          <a:off x="548976" y="912971"/>
          <a:ext cx="7584104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026">
                  <a:extLst>
                    <a:ext uri="{9D8B030D-6E8A-4147-A177-3AD203B41FA5}">
                      <a16:colId xmlns:a16="http://schemas.microsoft.com/office/drawing/2014/main" val="2159103675"/>
                    </a:ext>
                  </a:extLst>
                </a:gridCol>
                <a:gridCol w="1896026">
                  <a:extLst>
                    <a:ext uri="{9D8B030D-6E8A-4147-A177-3AD203B41FA5}">
                      <a16:colId xmlns:a16="http://schemas.microsoft.com/office/drawing/2014/main" val="4092269684"/>
                    </a:ext>
                  </a:extLst>
                </a:gridCol>
                <a:gridCol w="1896026">
                  <a:extLst>
                    <a:ext uri="{9D8B030D-6E8A-4147-A177-3AD203B41FA5}">
                      <a16:colId xmlns:a16="http://schemas.microsoft.com/office/drawing/2014/main" val="621794401"/>
                    </a:ext>
                  </a:extLst>
                </a:gridCol>
                <a:gridCol w="1896026">
                  <a:extLst>
                    <a:ext uri="{9D8B030D-6E8A-4147-A177-3AD203B41FA5}">
                      <a16:colId xmlns:a16="http://schemas.microsoft.com/office/drawing/2014/main" val="1269968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N1(</a:t>
                      </a:r>
                      <a:r>
                        <a:rPr lang="en-US" altLang="zh-CN" sz="12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March 2025</a:t>
                      </a:r>
                      <a:r>
                        <a:rPr lang="en-US" altLang="zh-CN" sz="1200" dirty="0"/>
                        <a:t>)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N1.5(</a:t>
                      </a:r>
                      <a:r>
                        <a:rPr lang="en-US" altLang="zh-CN" sz="12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June 2025</a:t>
                      </a:r>
                      <a:r>
                        <a:rPr lang="en-US" altLang="zh-CN" sz="1200" dirty="0"/>
                        <a:t>)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903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训练方式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Text tokenizer frozen/ vision encode unfrozen 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freezes the VLM</a:t>
                      </a:r>
                    </a:p>
                    <a:p>
                      <a:pPr algn="ctr"/>
                      <a:r>
                        <a:rPr lang="zh-CN" altLang="en-US" sz="1200" dirty="0"/>
                        <a:t>简化连接</a:t>
                      </a:r>
                      <a:r>
                        <a:rPr lang="en-US" altLang="zh-CN" sz="1200" dirty="0"/>
                        <a:t>vision</a:t>
                      </a:r>
                      <a:r>
                        <a:rPr lang="zh-CN" altLang="en-US" sz="1200" dirty="0"/>
                        <a:t>和</a:t>
                      </a:r>
                      <a:r>
                        <a:rPr lang="en-US" altLang="zh-CN" sz="1200" dirty="0"/>
                        <a:t>text embedding</a:t>
                      </a:r>
                      <a:r>
                        <a:rPr lang="zh-CN" altLang="en-US" sz="1200" dirty="0"/>
                        <a:t>的</a:t>
                      </a:r>
                      <a:r>
                        <a:rPr lang="en-US" altLang="zh-CN" sz="1200" dirty="0"/>
                        <a:t>MLP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显著提升了语言跟随能力和泛化能力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70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backbone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Eagle 2.0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Eagle 2.5 &amp; finetune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Finutune</a:t>
                      </a:r>
                      <a:r>
                        <a:rPr lang="zh-CN" altLang="en-US" sz="1200" dirty="0"/>
                        <a:t>之后的</a:t>
                      </a:r>
                      <a:r>
                        <a:rPr lang="en-US" altLang="zh-CN" sz="1200" dirty="0" err="1"/>
                        <a:t>vlm</a:t>
                      </a:r>
                      <a:r>
                        <a:rPr lang="zh-CN" altLang="en-US" sz="1200" dirty="0"/>
                        <a:t>的</a:t>
                      </a:r>
                      <a:r>
                        <a:rPr lang="en-US" altLang="zh-CN" sz="1200" dirty="0"/>
                        <a:t>grounding</a:t>
                      </a:r>
                      <a:r>
                        <a:rPr lang="zh-CN" altLang="en-US" sz="1200" dirty="0"/>
                        <a:t>能力更强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2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训练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添加了</a:t>
                      </a:r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Future Latent Representation Alignment (FLARE)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鼓励</a:t>
                      </a:r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latent VLM output to align with future states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856619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A386D566-F1B5-CC63-A94A-DFBAFFDD84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38442"/>
            <a:ext cx="4666925" cy="97894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4419331-74EC-3D22-8B03-AFFDBB120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760" y="3111182"/>
            <a:ext cx="4333240" cy="99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0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255E9-DCD5-B924-E99C-D4128D0E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2CDCB3-6674-7333-7BBE-1F58997D666F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472C4"/>
                </a:solidFill>
              </a:rPr>
              <a:t>GR00T N1.5  </a:t>
            </a:r>
            <a:r>
              <a:rPr lang="en-US" sz="2600" b="1" dirty="0">
                <a:solidFill>
                  <a:srgbClr val="4472C4"/>
                </a:solidFill>
                <a:sym typeface="Wingdings" panose="05000000000000000000" pitchFamily="2" charset="2"/>
              </a:rPr>
              <a:t>   GR00T N1.6</a:t>
            </a:r>
            <a:endParaRPr lang="en-US" sz="26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F4AE928-B378-AF1C-F625-FE5A0F3BA800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472C4"/>
                </a:solidFill>
                <a:hlinkClick r:id="rId3"/>
              </a:rPr>
              <a:t>[7]</a:t>
            </a:r>
            <a:r>
              <a:rPr lang="en-US" sz="700" u="sng" dirty="0">
                <a:solidFill>
                  <a:srgbClr val="4472C4"/>
                </a:solidFill>
              </a:rPr>
              <a:t>  </a:t>
            </a:r>
            <a:r>
              <a:rPr lang="en-US" sz="700" u="sng" dirty="0">
                <a:solidFill>
                  <a:srgbClr val="4472C4"/>
                </a:solidFill>
                <a:hlinkClick r:id="rId4"/>
              </a:rPr>
              <a:t>[8]</a:t>
            </a:r>
            <a:endParaRPr lang="en-US" sz="7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545DB37-DE74-CC61-A08C-F082B6E8A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441170"/>
              </p:ext>
            </p:extLst>
          </p:nvPr>
        </p:nvGraphicFramePr>
        <p:xfrm>
          <a:off x="548976" y="912971"/>
          <a:ext cx="7584104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026">
                  <a:extLst>
                    <a:ext uri="{9D8B030D-6E8A-4147-A177-3AD203B41FA5}">
                      <a16:colId xmlns:a16="http://schemas.microsoft.com/office/drawing/2014/main" val="2159103675"/>
                    </a:ext>
                  </a:extLst>
                </a:gridCol>
                <a:gridCol w="1896026">
                  <a:extLst>
                    <a:ext uri="{9D8B030D-6E8A-4147-A177-3AD203B41FA5}">
                      <a16:colId xmlns:a16="http://schemas.microsoft.com/office/drawing/2014/main" val="4092269684"/>
                    </a:ext>
                  </a:extLst>
                </a:gridCol>
                <a:gridCol w="1896026">
                  <a:extLst>
                    <a:ext uri="{9D8B030D-6E8A-4147-A177-3AD203B41FA5}">
                      <a16:colId xmlns:a16="http://schemas.microsoft.com/office/drawing/2014/main" val="621794401"/>
                    </a:ext>
                  </a:extLst>
                </a:gridCol>
                <a:gridCol w="1896026">
                  <a:extLst>
                    <a:ext uri="{9D8B030D-6E8A-4147-A177-3AD203B41FA5}">
                      <a16:colId xmlns:a16="http://schemas.microsoft.com/office/drawing/2014/main" val="1269968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N1.5(</a:t>
                      </a:r>
                      <a:r>
                        <a:rPr lang="en-US" altLang="zh-CN" sz="12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June 2025</a:t>
                      </a:r>
                      <a:r>
                        <a:rPr lang="en-US" altLang="zh-CN" sz="1200" dirty="0"/>
                        <a:t>)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N1.6(</a:t>
                      </a:r>
                      <a:r>
                        <a:rPr lang="en-US" altLang="zh-CN" sz="12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 2025</a:t>
                      </a:r>
                      <a:r>
                        <a:rPr lang="en-US" altLang="zh-CN" sz="1200" dirty="0"/>
                        <a:t>)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903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backbone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Eagle 2.5 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NVIDIA Cosmos-2B VLM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supports flexible resolution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70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网络架构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 layers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 layers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2x larger </a:t>
                      </a:r>
                      <a:r>
                        <a:rPr lang="en-US" altLang="zh-CN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DiT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2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学习目标</a:t>
                      </a:r>
                    </a:p>
                    <a:p>
                      <a:pPr algn="ctr"/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绝对值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Predicts state-relative action chunks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smoother motions and better generalization.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856619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CB21F2CC-F3E3-7776-AD53-4C71B439E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9236" y="2640478"/>
            <a:ext cx="4863584" cy="23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D49D5-A503-1A75-C36B-8B1B2C5BA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7C4DC7-9395-6BDB-57C6-5B883C146EA0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472C4"/>
                </a:solidFill>
              </a:rPr>
              <a:t>GR00T N1.6  </a:t>
            </a:r>
            <a:r>
              <a:rPr lang="en-US" sz="2600" b="1" dirty="0">
                <a:solidFill>
                  <a:srgbClr val="4472C4"/>
                </a:solidFill>
                <a:sym typeface="Wingdings" panose="05000000000000000000" pitchFamily="2" charset="2"/>
              </a:rPr>
              <a:t>   GR00T N1.7</a:t>
            </a:r>
            <a:endParaRPr lang="en-US" sz="26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D3AD588-F1F8-546A-FA16-16DBA75806F0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472C4"/>
                </a:solidFill>
                <a:hlinkClick r:id="rId3"/>
              </a:rPr>
              <a:t>[7]</a:t>
            </a:r>
            <a:r>
              <a:rPr lang="en-US" sz="700" u="sng" dirty="0">
                <a:solidFill>
                  <a:srgbClr val="4472C4"/>
                </a:solidFill>
              </a:rPr>
              <a:t>  </a:t>
            </a:r>
            <a:r>
              <a:rPr lang="en-US" sz="700" u="sng" dirty="0">
                <a:solidFill>
                  <a:srgbClr val="4472C4"/>
                </a:solidFill>
                <a:hlinkClick r:id="rId4"/>
              </a:rPr>
              <a:t>[8]</a:t>
            </a:r>
            <a:endParaRPr lang="en-US" sz="7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03D6B7E-486C-2D62-605A-5D0D9F137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573949"/>
              </p:ext>
            </p:extLst>
          </p:nvPr>
        </p:nvGraphicFramePr>
        <p:xfrm>
          <a:off x="548976" y="912971"/>
          <a:ext cx="7584104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026">
                  <a:extLst>
                    <a:ext uri="{9D8B030D-6E8A-4147-A177-3AD203B41FA5}">
                      <a16:colId xmlns:a16="http://schemas.microsoft.com/office/drawing/2014/main" val="2159103675"/>
                    </a:ext>
                  </a:extLst>
                </a:gridCol>
                <a:gridCol w="1896026">
                  <a:extLst>
                    <a:ext uri="{9D8B030D-6E8A-4147-A177-3AD203B41FA5}">
                      <a16:colId xmlns:a16="http://schemas.microsoft.com/office/drawing/2014/main" val="4092269684"/>
                    </a:ext>
                  </a:extLst>
                </a:gridCol>
                <a:gridCol w="1896026">
                  <a:extLst>
                    <a:ext uri="{9D8B030D-6E8A-4147-A177-3AD203B41FA5}">
                      <a16:colId xmlns:a16="http://schemas.microsoft.com/office/drawing/2014/main" val="621794401"/>
                    </a:ext>
                  </a:extLst>
                </a:gridCol>
                <a:gridCol w="1896026">
                  <a:extLst>
                    <a:ext uri="{9D8B030D-6E8A-4147-A177-3AD203B41FA5}">
                      <a16:colId xmlns:a16="http://schemas.microsoft.com/office/drawing/2014/main" val="1269968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N1.6(</a:t>
                      </a:r>
                      <a:r>
                        <a:rPr lang="en-US" altLang="zh-CN" sz="12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 2025</a:t>
                      </a:r>
                      <a:r>
                        <a:rPr lang="en-US" altLang="zh-CN" sz="1200" dirty="0"/>
                        <a:t>)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N1.7(</a:t>
                      </a:r>
                      <a:r>
                        <a:rPr lang="en-US" altLang="zh-CN" sz="12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March 2026</a:t>
                      </a:r>
                      <a:r>
                        <a:rPr lang="en-US" altLang="zh-CN" sz="1200" dirty="0"/>
                        <a:t>)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903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backbone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NVIDIA Cosmos-2B VLM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Cosmos-Reason2-2B / Qwen3-VL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更新的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VLM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模型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70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数据训练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20K hours of </a:t>
                      </a:r>
                      <a:r>
                        <a:rPr lang="en-US" altLang="zh-CN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EgoScale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human video&amp; diverse robot demonstrations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human video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提供机器人操作先验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2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学习目标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state-relative action 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Relative EEF Action Space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人类视频可以直接成为机器人 </a:t>
                      </a:r>
                      <a:r>
                        <a:rPr lang="en-US" altLang="zh-CN" sz="1200" dirty="0"/>
                        <a:t>action pretraining </a:t>
                      </a:r>
                      <a:r>
                        <a:rPr lang="zh-CN" altLang="en-US" sz="1200" dirty="0"/>
                        <a:t>数据。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856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121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472C4"/>
                </a:solidFill>
              </a:rPr>
              <a:t>Model Comparison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009312"/>
              </p:ext>
            </p:extLst>
          </p:nvPr>
        </p:nvGraphicFramePr>
        <p:xfrm>
          <a:off x="457200" y="1097280"/>
          <a:ext cx="8686800" cy="1798320"/>
        </p:xfrm>
        <a:graphic>
          <a:graphicData uri="http://schemas.openxmlformats.org/drawingml/2006/table">
            <a:tbl>
              <a:tblPr/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N1.6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N1.7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Parameter size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≈2.2B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≈3B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3B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Vision–Language backbone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Eagle‑2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Cosmos‑2B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Cosmos‑Reason2‑2B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Diffusion transformer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16‑layer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32‑layer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32‑layer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Data sources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Real robot, human video, synthetic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+ Teleop (YAM, AGIBot, G1)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+ 20k hrs human video (EgoScale)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Unique features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Dual system VLA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Relative actions, unfrozen VLM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Action cascade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472C4"/>
                </a:solidFill>
                <a:hlinkClick r:id="rId3"/>
              </a:rPr>
              <a:t>[19]</a:t>
            </a:r>
            <a:r>
              <a:rPr lang="en-US" sz="700" u="sng" dirty="0">
                <a:solidFill>
                  <a:srgbClr val="4472C4"/>
                </a:solidFill>
              </a:rPr>
              <a:t>  </a:t>
            </a:r>
            <a:r>
              <a:rPr lang="en-US" sz="700" u="sng" dirty="0">
                <a:solidFill>
                  <a:srgbClr val="4472C4"/>
                </a:solidFill>
                <a:hlinkClick r:id="rId4"/>
              </a:rPr>
              <a:t>[20]</a:t>
            </a:r>
            <a:r>
              <a:rPr lang="en-US" sz="700" u="sng" dirty="0">
                <a:solidFill>
                  <a:srgbClr val="4472C4"/>
                </a:solidFill>
              </a:rPr>
              <a:t>  </a:t>
            </a:r>
            <a:r>
              <a:rPr lang="en-US" sz="700" u="sng" dirty="0">
                <a:solidFill>
                  <a:srgbClr val="4472C4"/>
                </a:solidFill>
                <a:hlinkClick r:id="rId5"/>
              </a:rPr>
              <a:t>[21]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472C4"/>
                </a:solidFill>
              </a:rPr>
              <a:t>Impact &amp; Applications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</a:rPr>
              <a:t>Bimanual manipulation
</a:t>
            </a:r>
            <a:r>
              <a:rPr lang="en-US" sz="1100" dirty="0">
                <a:solidFill>
                  <a:srgbClr val="1F2A44"/>
                </a:solidFill>
              </a:rPr>
              <a:t>Language‑conditioned tasks on Fourier GR‑1 and bimanual YAM arms.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5448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1554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</a:rPr>
              <a:t>Material handling &amp; packaging
</a:t>
            </a:r>
            <a:r>
              <a:rPr lang="en-US" sz="1100" dirty="0">
                <a:solidFill>
                  <a:srgbClr val="1F2A44"/>
                </a:solidFill>
              </a:rPr>
              <a:t>Factory floor ready for logistics, packing and inspection tasks.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9456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2194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</a:rPr>
              <a:t>Industrial coordination
</a:t>
            </a:r>
            <a:r>
              <a:rPr lang="en-US" sz="1100" dirty="0">
                <a:solidFill>
                  <a:srgbClr val="1F2A44"/>
                </a:solidFill>
              </a:rPr>
              <a:t>Multi‑robot handoffs and co‑ordination on humanoid platforms (Unitree G1, AGIBot).</a:t>
            </a:r>
            <a:endParaRPr lang="en-US" sz="1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83464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2296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</a:rPr>
              <a:t>Research &amp; customisation
</a:t>
            </a:r>
            <a:r>
              <a:rPr lang="en-US" sz="1100" dirty="0">
                <a:solidFill>
                  <a:srgbClr val="1F2A44"/>
                </a:solidFill>
              </a:rPr>
              <a:t>Fine‑tune on your own robot using LeRobot datasets to adapt to new embodiments.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472C4"/>
                </a:solidFill>
                <a:hlinkClick r:id="rId7"/>
              </a:rPr>
              <a:t>[22]</a:t>
            </a:r>
            <a:r>
              <a:rPr lang="en-US" sz="700" u="sng" dirty="0">
                <a:solidFill>
                  <a:srgbClr val="4472C4"/>
                </a:solidFill>
              </a:rPr>
              <a:t>  </a:t>
            </a:r>
            <a:r>
              <a:rPr lang="en-US" sz="700" u="sng" dirty="0">
                <a:solidFill>
                  <a:srgbClr val="4472C4"/>
                </a:solidFill>
                <a:hlinkClick r:id="rId8"/>
              </a:rPr>
              <a:t>[23]</a:t>
            </a:r>
            <a:r>
              <a:rPr lang="en-US" sz="700" u="sng" dirty="0">
                <a:solidFill>
                  <a:srgbClr val="4472C4"/>
                </a:solidFill>
              </a:rPr>
              <a:t>  </a:t>
            </a:r>
            <a:r>
              <a:rPr lang="en-US" sz="700" u="sng" dirty="0">
                <a:solidFill>
                  <a:srgbClr val="4472C4"/>
                </a:solidFill>
                <a:hlinkClick r:id="rId9"/>
              </a:rPr>
              <a:t>[24]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472C4"/>
                </a:solidFill>
              </a:rPr>
              <a:t>Conclusion &amp; Outlook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</a:rPr>
              <a:t>• Foundation models are catalysing rapid progress in generalist robotics.
• Progression from N1 → N1.6 → N1.7 shows consistent gains in perception, control and dexterity.
• Human egocentric data unlocks scalable dexterity; more data translates to more capable hands.
• N1.7 is commercially licensed and factory‑ready today, bridging research and industry.
• Looking ahead: GR00T N2 (DreamZero) promises world action models that double success on unseen tasks.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72C4"/>
                </a:solidFill>
              </a:rPr>
              <a:t>Thank you!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472C4"/>
                </a:solidFill>
                <a:hlinkClick r:id="rId4"/>
              </a:rPr>
              <a:t>[25]</a:t>
            </a:r>
            <a:r>
              <a:rPr lang="en-US" sz="700" u="sng" dirty="0">
                <a:solidFill>
                  <a:srgbClr val="4472C4"/>
                </a:solidFill>
              </a:rPr>
              <a:t>  </a:t>
            </a:r>
            <a:r>
              <a:rPr lang="en-US" sz="700" u="sng" dirty="0">
                <a:solidFill>
                  <a:srgbClr val="4472C4"/>
                </a:solidFill>
                <a:hlinkClick r:id="rId5"/>
              </a:rPr>
              <a:t>[26]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948</Words>
  <Application>Microsoft Office PowerPoint</Application>
  <PresentationFormat>自定义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zhirui gao</cp:lastModifiedBy>
  <cp:revision>2</cp:revision>
  <dcterms:created xsi:type="dcterms:W3CDTF">2026-04-26T07:47:30Z</dcterms:created>
  <dcterms:modified xsi:type="dcterms:W3CDTF">2026-04-27T06:10:48Z</dcterms:modified>
</cp:coreProperties>
</file>